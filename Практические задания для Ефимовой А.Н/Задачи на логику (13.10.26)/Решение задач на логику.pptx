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Roboto Light"/>
      <p:regular r:id="rId20"/>
      <p:bold r:id="rId21"/>
      <p:italic r:id="rId22"/>
      <p:boldItalic r:id="rId23"/>
    </p:embeddedFont>
    <p:embeddedFont>
      <p:font typeface="Century Gothic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41">
          <p15:clr>
            <a:srgbClr val="A4A3A4"/>
          </p15:clr>
        </p15:guide>
        <p15:guide id="2" pos="263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41" orient="horz"/>
        <p:guide pos="263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Light-regular.fntdata"/><Relationship Id="rId22" Type="http://schemas.openxmlformats.org/officeDocument/2006/relationships/font" Target="fonts/RobotoLight-italic.fntdata"/><Relationship Id="rId21" Type="http://schemas.openxmlformats.org/officeDocument/2006/relationships/font" Target="fonts/RobotoLight-bold.fntdata"/><Relationship Id="rId24" Type="http://schemas.openxmlformats.org/officeDocument/2006/relationships/font" Target="fonts/CenturyGothic-regular.fntdata"/><Relationship Id="rId23" Type="http://schemas.openxmlformats.org/officeDocument/2006/relationships/font" Target="fonts/RobotoLigh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enturyGothic-italic.fntdata"/><Relationship Id="rId25" Type="http://schemas.openxmlformats.org/officeDocument/2006/relationships/font" Target="fonts/CenturyGothic-bold.fntdata"/><Relationship Id="rId27" Type="http://schemas.openxmlformats.org/officeDocument/2006/relationships/font" Target="fonts/CenturyGothic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19" Type="http://schemas.openxmlformats.org/officeDocument/2006/relationships/font" Target="fonts/Roboto-boldItalic.fntdata"/><Relationship Id="rId18" Type="http://schemas.openxmlformats.org/officeDocument/2006/relationships/font" Target="fonts/Robo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555555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4569864e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4569864e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648201ad6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1648201ad6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90015161b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90015161b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90015161b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90015161b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9ff74880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9ff74880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9ff74880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9ff74880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9ff74880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9ff74880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9ff74880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9ff74880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9ff74880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9ff74880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0" y="2136900"/>
            <a:ext cx="9144000" cy="86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 sz="4500"/>
              <a:t>Решение задач на логику</a:t>
            </a:r>
            <a:endParaRPr sz="26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0" y="79500"/>
            <a:ext cx="9144000" cy="5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ru" sz="2090">
                <a:solidFill>
                  <a:srgbClr val="CCCCCC"/>
                </a:solidFill>
              </a:rPr>
              <a:t>ОП.04 Основы алгоритмизации и программирования</a:t>
            </a:r>
            <a:endParaRPr sz="2090">
              <a:solidFill>
                <a:srgbClr val="CCCCC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latin typeface="Century Gothic"/>
                <a:ea typeface="Century Gothic"/>
                <a:cs typeface="Century Gothic"/>
                <a:sym typeface="Century Gothic"/>
              </a:rPr>
              <a:t>Цель урока</a:t>
            </a:r>
            <a:endParaRPr sz="250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184675" y="2648625"/>
            <a:ext cx="5084700" cy="13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Light"/>
              <a:buChar char="●"/>
            </a:pPr>
            <a:r>
              <a:rPr lang="ru" sz="1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Развить логическое мышление и аналитические способности</a:t>
            </a:r>
            <a:endParaRPr sz="12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Light"/>
              <a:buChar char="●"/>
            </a:pPr>
            <a:r>
              <a:rPr lang="ru" sz="1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Научиться разбивать сложные задачи на простые шаги</a:t>
            </a:r>
            <a:endParaRPr sz="12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Light"/>
              <a:buChar char="●"/>
            </a:pPr>
            <a:r>
              <a:rPr lang="ru" sz="1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Применять линейные алгоритмы и условные операторы при решении задач</a:t>
            </a:r>
            <a:endParaRPr sz="12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Light"/>
              <a:buChar char="●"/>
            </a:pPr>
            <a:r>
              <a:rPr lang="ru" sz="1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Реализовать алгоритмы решения в виде рабочих программ</a:t>
            </a:r>
            <a:endParaRPr sz="12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311700" y="1017725"/>
            <a:ext cx="6279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Сформировать у студентов навыки решения логических задач с использованием методов алгоритмизации и программирования на языке Python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309120" y="1999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latin typeface="Century Gothic"/>
                <a:ea typeface="Century Gothic"/>
                <a:cs typeface="Century Gothic"/>
                <a:sym typeface="Century Gothic"/>
              </a:rPr>
              <a:t>Задачи</a:t>
            </a:r>
            <a:r>
              <a:rPr lang="ru" sz="2500">
                <a:latin typeface="Century Gothic"/>
                <a:ea typeface="Century Gothic"/>
                <a:cs typeface="Century Gothic"/>
                <a:sym typeface="Century Gothic"/>
              </a:rPr>
              <a:t> урока</a:t>
            </a:r>
            <a:endParaRPr sz="2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222050" y="293950"/>
            <a:ext cx="4321800" cy="47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Искусственный интеллект Гвидо разворачивает на экране терминала ряды чисел, их становится все больше и больше. Когда Джонатан уже не успевает улавливать появление новых символов, Гвидо объясняет: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— Смотри, на экран выведены все целые числа от А до В включительно. </a:t>
            </a:r>
            <a:r>
              <a:rPr lang="ru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Тебе нужно посчитать сумму всех четных чисел от А до В, а я посчитаю сумму всех нечетных.</a:t>
            </a:r>
            <a:r>
              <a:rPr lang="ru" sz="1200">
                <a:solidFill>
                  <a:schemeClr val="dk1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 А потом тебе нужно будет выяснить, чья сумма больше. Конечно, для этого придется найти разность между этими двумя суммами.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Задание нужно выполнить в виде программы, которая получает на вход два целых положительных числа А и В (каждое на отдельной строке). Программа должна вывести одно число — разность между суммой четных чисел и суммой нечетных чисел от А до В.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4203" y="1266138"/>
            <a:ext cx="4082995" cy="22966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4169375" y="1017713"/>
            <a:ext cx="4859400" cy="27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У нас есть следующий набор данных, содержащий информацию о расстоянии между различными объектами в городе:</a:t>
            </a:r>
            <a:endParaRPr sz="12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166200" lvl="0" marL="180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Light"/>
              <a:buChar char="●"/>
            </a:pPr>
            <a:r>
              <a:rPr lang="ru" sz="1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от дома Джонатана (Д) до офиса Гвидо (Г) — 15 км</a:t>
            </a:r>
            <a:endParaRPr sz="12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166200" lvl="0" marL="180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Light"/>
              <a:buChar char="●"/>
            </a:pPr>
            <a:r>
              <a:rPr lang="ru" sz="1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от Автомастерских (А) до офиса Гвидо (Г) — 10 км</a:t>
            </a:r>
            <a:endParaRPr sz="12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166200" lvl="0" marL="180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Light"/>
              <a:buChar char="●"/>
            </a:pPr>
            <a:r>
              <a:rPr lang="ru" sz="1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от офиса Гвидо (Г) до Башни интернет-вещания (Б) — 11 км</a:t>
            </a:r>
            <a:endParaRPr sz="12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166200" lvl="0" marL="180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Light"/>
              <a:buChar char="●"/>
            </a:pPr>
            <a:r>
              <a:rPr lang="ru" sz="1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от Автомастерских (А) до Башни интернет-вещания (Б) — 8 км</a:t>
            </a:r>
            <a:endParaRPr sz="12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166200" lvl="0" marL="180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Light"/>
              <a:buChar char="●"/>
            </a:pPr>
            <a:r>
              <a:rPr lang="ru" sz="1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от Вирусологического центра (В) до офиса Гвидо (Г) — </a:t>
            </a:r>
            <a:r>
              <a:rPr lang="ru" sz="1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1</a:t>
            </a:r>
            <a:r>
              <a:rPr lang="ru" sz="1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7 км</a:t>
            </a:r>
            <a:endParaRPr sz="12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Расстояние считается по дорогам, соединяющим городские объекты между собой (смотри картинку). На каком расстоянии от дома Джонатана находится Вирусологический центр?</a:t>
            </a:r>
            <a:endParaRPr sz="12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75" y="1211175"/>
            <a:ext cx="4012752" cy="2257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915450" y="3227700"/>
            <a:ext cx="7313100" cy="17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У одного из наших автоматов, которые присваивают порядковые имена новым машинам, произошел сбой. Обычно он формирует имена следующим образом: составляет список всех возможных последовательностей в алфавитном порядке из пяти букв, используя только символы X, Y и Z.</a:t>
            </a:r>
            <a:endParaRPr sz="12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Но что-то пошло не так, программа именования повреждена! А нам нужно срочно выяснить, какое имя досталось машине под номером 179. Начало списка ты видишь на экране. Найди ответ на заданный вопрос как можно скорее!</a:t>
            </a:r>
            <a:endParaRPr sz="12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9449" y="155900"/>
            <a:ext cx="5464076" cy="30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794325" y="2705450"/>
            <a:ext cx="7473600" cy="24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Light"/>
              <a:buAutoNum type="arabicPeriod"/>
            </a:pPr>
            <a:r>
              <a:rPr lang="ru" sz="1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Методика синтеза изображения или голоса, основанная на искусственном интеллекте. Видеоролики с использованием этой технологии легко найти на Youtube или Tiktok.</a:t>
            </a:r>
            <a:endParaRPr sz="12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Light"/>
              <a:buAutoNum type="arabicPeriod"/>
            </a:pPr>
            <a:r>
              <a:rPr lang="ru" sz="1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Четкая последовательность шагов, которая приводит к желаемому результату.</a:t>
            </a:r>
            <a:endParaRPr sz="12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Light"/>
              <a:buAutoNum type="arabicPeriod"/>
            </a:pPr>
            <a:r>
              <a:rPr lang="ru" sz="1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Метод машинного обучения, при котором компьютерная программа имитирует работу человеческого мозга. </a:t>
            </a:r>
            <a:endParaRPr sz="12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Light"/>
              <a:buAutoNum type="arabicPeriod"/>
            </a:pPr>
            <a:r>
              <a:rPr lang="ru" sz="1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Впишите пропущенное слово: "OpenAI разработала __ машинного обучения, которую все знают как ChatGPT".</a:t>
            </a:r>
            <a:endParaRPr sz="12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Light"/>
              <a:buAutoNum type="arabicPeriod"/>
            </a:pPr>
            <a:r>
              <a:rPr lang="ru" sz="1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Деятельность по интерпретации смысла текста на одном языке и созданию нового эквивалентного ему текста на другом языке.</a:t>
            </a:r>
            <a:endParaRPr sz="12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Light"/>
              <a:buAutoNum type="arabicPeriod"/>
            </a:pPr>
            <a:r>
              <a:rPr lang="ru" sz="1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Программа, которая выполняет автоматические заранее настроенные повторяющиеся задачи. Такие программы особенно популярны в Telegram.</a:t>
            </a:r>
            <a:endParaRPr sz="12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92" name="Google Shape;92;p19"/>
          <p:cNvPicPr preferRelativeResize="0"/>
          <p:nvPr/>
        </p:nvPicPr>
        <p:blipFill rotWithShape="1">
          <a:blip r:embed="rId3">
            <a:alphaModFix/>
          </a:blip>
          <a:srcRect b="9428" l="0" r="0" t="0"/>
          <a:stretch/>
        </p:blipFill>
        <p:spPr>
          <a:xfrm>
            <a:off x="1890500" y="58025"/>
            <a:ext cx="5196274" cy="2647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968900" y="3822225"/>
            <a:ext cx="7473600" cy="78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Напиши программу, которая принимает на вход одно целое положительное число n. </a:t>
            </a:r>
            <a:endParaRPr sz="12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Программа должна вывести количество целых положительных чисел, не превосходящих n, </a:t>
            </a:r>
            <a:endParaRPr sz="12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которые не делятся ни на одно из чисел 2,3 и 5.</a:t>
            </a:r>
            <a:endParaRPr sz="12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98" name="Google Shape;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3825" y="0"/>
            <a:ext cx="6207874" cy="3491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968900" y="3822225"/>
            <a:ext cx="74736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В мою память недавно подгрузилась познавательная рассылка. Очень интересный выпуск, про параметрические кривые. Так вот, я решил зашифровать твое очередное задание в виде такой кривой. Тебе нужно его прочитать, решить и ввести правильный ответ. Доступ к всемирной сети я временно восстановил, так что можешь загуглить, или как у вас там этот примитивный способ поиска информации называется..</a:t>
            </a:r>
            <a:endParaRPr sz="12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04" name="Google Shape;10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7275" y="183850"/>
            <a:ext cx="6253200" cy="351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