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Century Gothic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67">
          <p15:clr>
            <a:srgbClr val="A4A3A4"/>
          </p15:clr>
        </p15:guide>
        <p15:guide id="2" pos="2880">
          <p15:clr>
            <a:srgbClr val="A4A3A4"/>
          </p15:clr>
        </p15:guide>
        <p15:guide id="3" pos="2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7" orient="horz"/>
        <p:guide pos="2880"/>
        <p:guide pos="2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37" Type="http://schemas.openxmlformats.org/officeDocument/2006/relationships/font" Target="fonts/CenturyGothic-bold.fntdata"/><Relationship Id="rId14" Type="http://schemas.openxmlformats.org/officeDocument/2006/relationships/slide" Target="slides/slide9.xml"/><Relationship Id="rId36" Type="http://schemas.openxmlformats.org/officeDocument/2006/relationships/font" Target="fonts/CenturyGothic-regular.fntdata"/><Relationship Id="rId17" Type="http://schemas.openxmlformats.org/officeDocument/2006/relationships/slide" Target="slides/slide12.xml"/><Relationship Id="rId39" Type="http://schemas.openxmlformats.org/officeDocument/2006/relationships/font" Target="fonts/CenturyGothic-boldItalic.fntdata"/><Relationship Id="rId16" Type="http://schemas.openxmlformats.org/officeDocument/2006/relationships/slide" Target="slides/slide11.xml"/><Relationship Id="rId38" Type="http://schemas.openxmlformats.org/officeDocument/2006/relationships/font" Target="fonts/CenturyGothic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4569864e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4569864e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648201ad6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648201ad6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Ветвления и условный оператор (if) отличаются тем, что ветвления — это общая конструкция, а условный оператор — её реализация.</a:t>
            </a:r>
            <a:br>
              <a:rPr lang="ru"/>
            </a:br>
            <a:br>
              <a:rPr lang="ru"/>
            </a:b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Вспомните из предыдущей лекции: существует три базовые алгоритмические конструкции: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Линейная — действия выполняются последовательно, одно за другим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Разветвляющаяся (ветвящаяся) — выбор между альтернативами на основе условия ← это то, что мы изучаем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Циклическая — повторение действий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"/>
            </a:b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648201ad6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648201ad6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Условные операторы в Python - это как развилки на дороге. Программа смотрит на условие и решает, куда ей дальше. Представьте, что вы пишете приложение для доставки еды. Если заказ сделан до десяти вечера - принимаем, а если уже ночь на дворе выводим: "Кухня закрыта".</a:t>
            </a:r>
            <a:br>
              <a:rPr lang="ru" sz="1000">
                <a:solidFill>
                  <a:schemeClr val="dk1"/>
                </a:solidFill>
              </a:rPr>
            </a:br>
            <a:br>
              <a:rPr lang="ru" sz="1000">
                <a:solidFill>
                  <a:schemeClr val="dk1"/>
                </a:solidFill>
              </a:rPr>
            </a:b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</a:rPr>
              <a:t>Принятие решений. Позволяют программе выбирать между различными путями выполнения. Например, отправить пользователю письмо на почту или сообщение в мессенджере.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</a:rPr>
              <a:t>Контроль потока выполнения. Условные операторы управляют тем, какие части кода будут выполнены, а какие проигнорированы.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25400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</a:rPr>
              <a:t>Оптимизация кода. Позволяют избегать выполнения ненужных операций, что улучшает производительность. Действия в программе выполняются последовательно, но иногда некоторые операции надо пропустить.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28600" lvl="0" marL="673100" marR="254000" rtl="0" algn="l">
              <a:lnSpc>
                <a:spcPct val="144444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</a:rPr>
              <a:t>Обработка ошибок. Условные операторы помогают обнаруживать и реагировать на ошибки или нестандартные ситуации. С помощью условных операторов можно описать, как программе реагировать на возникающие в коде ошибки.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48201ad6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648201ad6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Важные правила: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Отступ (индентация) обязателен! В Python это определяет границы блока кода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Двоеточие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обязательно после условия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Блок кода внутри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должен быть сдвинут на 4 пробела (или 1 табуляцию)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4569864e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4569864e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 при age = 20</a:t>
            </a:r>
            <a:b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 при age = 15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4569864e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4569864e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Конструкция </a:t>
            </a:r>
            <a:r>
              <a:rPr lang="ru" sz="1350" u="sng">
                <a:solidFill>
                  <a:schemeClr val="dk1"/>
                </a:solidFill>
                <a:highlight>
                  <a:srgbClr val="E8EAF0"/>
                </a:highlight>
              </a:rPr>
              <a:t>if-else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 позволяет выполнять два блока кода: для истинного и ложного условий. Это позволяет управлять поведением программы в зависимости от входных данных и состояний.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4444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50" u="sng">
                <a:solidFill>
                  <a:schemeClr val="dk1"/>
                </a:solidFill>
                <a:highlight>
                  <a:srgbClr val="E8EAF0"/>
                </a:highlight>
              </a:rPr>
              <a:t>if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 описывает, что делать программе, если условие истинно, а </a:t>
            </a:r>
            <a:r>
              <a:rPr lang="ru" sz="1350" u="sng">
                <a:solidFill>
                  <a:schemeClr val="dk1"/>
                </a:solidFill>
                <a:highlight>
                  <a:srgbClr val="E8EAF0"/>
                </a:highlight>
              </a:rPr>
              <a:t>else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 — если это условие ложно. После </a:t>
            </a:r>
            <a:r>
              <a:rPr lang="ru" sz="1350" u="sng">
                <a:solidFill>
                  <a:schemeClr val="dk1"/>
                </a:solidFill>
                <a:highlight>
                  <a:srgbClr val="E8EAF0"/>
                </a:highlight>
              </a:rPr>
              <a:t>else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 нельзя указать другое условие: просто ставится двоеточие. Следующий блок кода начинается с отступа, как и в случае с </a:t>
            </a:r>
            <a:r>
              <a:rPr lang="ru" sz="1350" u="sng">
                <a:solidFill>
                  <a:schemeClr val="dk1"/>
                </a:solidFill>
                <a:highlight>
                  <a:srgbClr val="E8EAF0"/>
                </a:highlight>
              </a:rPr>
              <a:t>if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4569864e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4569864e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4569864e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4569864e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Правила выполнения: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Проверяется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условие_1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Если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выполняется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блок кода 1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 остальные условия пропускаются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условие_1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ложно, проверяется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условие_2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Если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выполняется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блок кода 2</a:t>
            </a:r>
            <a:endParaRPr sz="105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так далее...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все условия ложны, выполняется блок в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105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Выполняется только один из блоков!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4569864e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4569864e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a647ecd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a647ecd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4569864e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4569864e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4569864e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4569864e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Оба варианта дают одинаковый результат, но второй вариант: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Более читаемый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Более короткий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Более Pythonic (так пишут опытные программисты на Python)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4569864e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4569864e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4569864e2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4569864e2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4569864e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4569864e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age = </a:t>
            </a:r>
            <a:r>
              <a:rPr lang="ru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"Введите возраст: "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has_id = </a:t>
            </a:r>
            <a:r>
              <a:rPr lang="ru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"Есть ли у вас документ? (да/нет): "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is_member = </a:t>
            </a:r>
            <a:r>
              <a:rPr lang="ru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"Вы член клуба? (да/нет): "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(has_id == </a:t>
            </a:r>
            <a:r>
              <a:rPr lang="ru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"да"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age &gt;= </a:t>
            </a:r>
            <a:r>
              <a:rPr lang="ru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is_member == </a:t>
            </a:r>
            <a:r>
              <a:rPr lang="ru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"да"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"Добро пожаловать в клуб!"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"Вход запрещен"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4569864e2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4569864e2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salary = </a:t>
            </a:r>
            <a:r>
              <a:rPr lang="ru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"Ваша зарплата: "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experience = </a:t>
            </a:r>
            <a:r>
              <a:rPr lang="ru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"Ваш опыт (в годах): "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((salary &gt; </a:t>
            </a:r>
            <a:r>
              <a:rPr lang="ru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50000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(experience &gt; </a:t>
            </a:r>
            <a:r>
              <a:rPr lang="ru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lang="ru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(experience &gt; </a:t>
            </a:r>
            <a:r>
              <a:rPr lang="ru">
                <a:solidFill>
                  <a:srgbClr val="DE935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"Вы можете претендовать на повышение"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>
                <a:solidFill>
                  <a:srgbClr val="B294BB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>
                <a:solidFill>
                  <a:srgbClr val="B5BD68"/>
                </a:solidFill>
                <a:latin typeface="Courier New"/>
                <a:ea typeface="Courier New"/>
                <a:cs typeface="Courier New"/>
                <a:sym typeface="Courier New"/>
              </a:rPr>
              <a:t>"К сожалению, пока нет оснований для повышения"</a:t>
            </a:r>
            <a:r>
              <a:rPr lang="ru">
                <a:solidFill>
                  <a:srgbClr val="C5C8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C5C8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4569864e2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4569864e2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4569864e2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4569864e2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4569864e2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4569864e2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4569864e2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4569864e2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4569864e2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4569864e2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4569864e2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4569864e2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4569864e2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4569864e2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4569864e2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4569864e2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4569864e2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4569864e2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Итоги лекции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Ключевые концепции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Ветвления позволяют программе выбирать различные пути выполнения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Простые условия — это сравнения (==, !=, &lt;, &gt;, &lt;=, &gt;=)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Сложные условия — комбинация простых через логические операторы (and, or, not)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Синтаксис Python: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if условие: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для простого ветвления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if-else: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для полного ветвления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if-elif-else: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для множественного выбора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Вложенные условия позволяют проверять сложные сценарии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Приоритет операций важен для правильной интерпретации условий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Рекомендации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скобки для явного указания приоритета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Давайте понятные имена переменным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Комментируйте сложную логику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Тестируйте код с разными входными данными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Упрощайте вложенные условия логическими операторами, где возможно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 следующей лекции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 изучим множественный выбор и оператор </a:t>
            </a:r>
            <a:r>
              <a:rPr lang="ru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match-case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(для Python 3.10+) или применим более сложные структуры if-elif-else для обработки множественного выбора, что подготовит вас к работе с более сложными алгоритмами.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1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36.png"/><Relationship Id="rId5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Relationship Id="rId4" Type="http://schemas.openxmlformats.org/officeDocument/2006/relationships/image" Target="../media/image30.png"/><Relationship Id="rId5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24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3000"/>
              <a:t>Программирование ветвлений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100"/>
              <a:t>(</a:t>
            </a:r>
            <a:r>
              <a:rPr lang="ru" sz="1900"/>
              <a:t>У</a:t>
            </a:r>
            <a:r>
              <a:rPr lang="ru" sz="1900"/>
              <a:t>словный оператор. Типы ветвлений.Вложенные условные операторы</a:t>
            </a:r>
            <a:r>
              <a:rPr lang="ru" sz="2100"/>
              <a:t>)</a:t>
            </a:r>
            <a:endParaRPr sz="21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0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CCCCCC"/>
                </a:solidFill>
              </a:rPr>
              <a:t>ОП.04 Основы алгоритмизации и программирования</a:t>
            </a:r>
            <a:endParaRPr>
              <a:solidFill>
                <a:srgbClr val="CCCCCC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12755" l="0" r="0" t="0"/>
          <a:stretch/>
        </p:blipFill>
        <p:spPr>
          <a:xfrm>
            <a:off x="1158933" y="2110000"/>
            <a:ext cx="5889930" cy="303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Цели урока</a:t>
            </a:r>
            <a:endParaRPr sz="250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7113900" cy="28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Понять концепцию ветвлений в алгоритмах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Освоить синтаксис условного оператора if-else в Python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Научиться работать с простыми условиями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Освоить построение сложных условий с логическими операторами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Разобраться с вложенными условными операторами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Применить знания на практике через кодирование и задачи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400" y="2738350"/>
            <a:ext cx="2017825" cy="191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Что такое ветвления?</a:t>
            </a:r>
            <a:endParaRPr sz="25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77358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  <a:highlight>
                  <a:srgbClr val="FFFFFF"/>
                </a:highlight>
              </a:rPr>
              <a:t>Ветвление (branching) </a:t>
            </a:r>
            <a:r>
              <a:rPr lang="ru" sz="1400">
                <a:solidFill>
                  <a:schemeClr val="dk1"/>
                </a:solidFill>
                <a:highlight>
                  <a:schemeClr val="lt1"/>
                </a:highlight>
              </a:rPr>
              <a:t>–</a:t>
            </a: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 это алгоритмическая конструкция, которая позволяет выбрать один из нескольких вариантов выполнения программы в зависимости от условия.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325" y="1864550"/>
            <a:ext cx="1885395" cy="327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3125" y="1864550"/>
            <a:ext cx="3278950" cy="327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1775" y="1910875"/>
            <a:ext cx="3232624" cy="323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2225" y="1712075"/>
            <a:ext cx="1046575" cy="1381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Что делают условные операторы в Python</a:t>
            </a:r>
            <a:endParaRPr sz="2500"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26" y="1186625"/>
            <a:ext cx="1708200" cy="178227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311700" y="3008700"/>
            <a:ext cx="21462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highlight>
                  <a:schemeClr val="lt1"/>
                </a:highlight>
              </a:rPr>
              <a:t>Принятие решений</a:t>
            </a:r>
            <a:r>
              <a:rPr lang="ru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</a:rPr>
              <a:t>Позволяют программе выбирать между различными путями выполнения. </a:t>
            </a:r>
            <a:endParaRPr sz="1200"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6187" y="1329099"/>
            <a:ext cx="2301438" cy="15453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2424663" y="2961750"/>
            <a:ext cx="2146200" cy="16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highlight>
                  <a:schemeClr val="lt1"/>
                </a:highlight>
              </a:rPr>
              <a:t>Контроль потока выполнения</a:t>
            </a:r>
            <a:r>
              <a:rPr lang="ru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</a:rPr>
              <a:t>Управляют тем, какие части кода будут выполнены, а какие проигнорированы.</a:t>
            </a:r>
            <a:endParaRPr sz="1200"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7135" y="1262975"/>
            <a:ext cx="1991164" cy="17352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4709788" y="2968900"/>
            <a:ext cx="22041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highlight>
                  <a:schemeClr val="lt1"/>
                </a:highlight>
              </a:rPr>
              <a:t>Оптимизация кода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</a:rPr>
              <a:t>Позволяют избегать выполнения ненужных операций, что улучшает производительность. </a:t>
            </a:r>
            <a:endParaRPr sz="1200"/>
          </a:p>
        </p:txBody>
      </p:sp>
      <p:sp>
        <p:nvSpPr>
          <p:cNvPr id="85" name="Google Shape;85;p16"/>
          <p:cNvSpPr txBox="1"/>
          <p:nvPr/>
        </p:nvSpPr>
        <p:spPr>
          <a:xfrm>
            <a:off x="6965849" y="2976249"/>
            <a:ext cx="2098800" cy="1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highlight>
                  <a:schemeClr val="lt1"/>
                </a:highlight>
              </a:rPr>
              <a:t>Обработка ошибок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</a:rPr>
              <a:t>Помогают</a:t>
            </a: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</a:rPr>
              <a:t> программе реагировать на возникающие в коде ошибки</a:t>
            </a:r>
            <a:r>
              <a:rPr lang="ru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52791" y="1210112"/>
            <a:ext cx="1924909" cy="173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Типы ветвлений</a:t>
            </a:r>
            <a:endParaRPr sz="2500"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47733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  <a:highlight>
                  <a:srgbClr val="FFFFFF"/>
                </a:highlight>
              </a:rPr>
              <a:t>Оператор if</a:t>
            </a: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 - простое ветвление (неполная ветвь), блок кода выполняется только если условие истинно.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0100" y="894400"/>
            <a:ext cx="3704274" cy="400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075" y="1806700"/>
            <a:ext cx="4247714" cy="294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Типы ветвлений</a:t>
            </a:r>
            <a:endParaRPr sz="2500"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152475"/>
            <a:ext cx="4260300" cy="38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Пример: Проверка возраста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программу, которая проверяет, является ли пользователь совершеннолетним, и информирует его о правах.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Входные данные:</a:t>
            </a:r>
            <a:r>
              <a:rPr lang="ru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Возраст пользователя (целое число)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4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Выходные данные:</a:t>
            </a:r>
            <a:endParaRPr sz="14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возраст больше или равен 18 годам: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"Вы совершеннолетний" и "Можете голосовать"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конце программы в любом случае вывести: "Спасибо, до свидания</a:t>
            </a: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!"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783428"/>
            <a:ext cx="4438750" cy="2160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8700" y="3193350"/>
            <a:ext cx="1225300" cy="11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Типы ветвлений</a:t>
            </a:r>
            <a:endParaRPr sz="2500"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152475"/>
            <a:ext cx="47733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  <a:highlight>
                  <a:srgbClr val="FFFFFF"/>
                </a:highlight>
              </a:rPr>
              <a:t>Оператор if-else</a:t>
            </a: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 - п</a:t>
            </a: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олное ветвление</a:t>
            </a: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, в</a:t>
            </a: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ыполняет один блок кода если условие истинно, и другой блок если условие ложно.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7400" y="1170125"/>
            <a:ext cx="3754202" cy="375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606" y="1897975"/>
            <a:ext cx="2909768" cy="324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Типы ветвлений</a:t>
            </a:r>
            <a:endParaRPr sz="2500"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4618500" cy="3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Пример: Четность числа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программу, которая определяет, является ли введенное число четным или нечетным.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Входные данные:</a:t>
            </a:r>
            <a:r>
              <a:rPr lang="ru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Одно целое число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4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Выходные данные:</a:t>
            </a:r>
            <a:endParaRPr sz="14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число четное: "Число [число] четное"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число нечетное: "Число [число] нечетное"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конце программы вывести: "Проверка завершена"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9275" y="1980325"/>
            <a:ext cx="4239950" cy="226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3925" y="3584625"/>
            <a:ext cx="1225300" cy="11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Типы ветвлений</a:t>
            </a:r>
            <a:endParaRPr sz="2500"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152475"/>
            <a:ext cx="47733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  <a:highlight>
                  <a:srgbClr val="FFFFFF"/>
                </a:highlight>
              </a:rPr>
              <a:t>Оператор </a:t>
            </a:r>
            <a:r>
              <a:rPr b="1" lang="ru" sz="1400">
                <a:solidFill>
                  <a:schemeClr val="dk1"/>
                </a:solidFill>
                <a:highlight>
                  <a:srgbClr val="FFFFFF"/>
                </a:highlight>
              </a:rPr>
              <a:t>if-elif-else</a:t>
            </a: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 - множественное ветвление, выполняет </a:t>
            </a: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разные блоки кода в зависимости от различных условий.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025" y="505850"/>
            <a:ext cx="4273977" cy="426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 rotWithShape="1">
          <a:blip r:embed="rId4">
            <a:alphaModFix/>
          </a:blip>
          <a:srcRect b="4727" l="0" r="0" t="4898"/>
          <a:stretch/>
        </p:blipFill>
        <p:spPr>
          <a:xfrm>
            <a:off x="2217175" y="1827050"/>
            <a:ext cx="2223144" cy="324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Типы ветвлений</a:t>
            </a:r>
            <a:endParaRPr sz="2500"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1152475"/>
            <a:ext cx="4696200" cy="3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Пример: </a:t>
            </a: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Оценка по баллам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программу, которая по количеству набранных баллов определяет оценку студента.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Входные данные:</a:t>
            </a:r>
            <a:r>
              <a:rPr lang="ru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Количество баллов (целое число от 0 до 100)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4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Выходные данные:</a:t>
            </a:r>
            <a:endParaRPr sz="14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баллы &gt;= 90: "Оценка: 5 (отлично)"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баллы &gt;= 75 и &lt; 90: "Оценка: 4 (хорошо)"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баллы &gt;= 60 и &lt; 75: "Оценка: 3 (удовлетворительно)"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баллы &lt; 60: "Оценка: 2 (неудовлетворительно)"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После определения оценки вывести: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"Результат записан"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0975" y="3731950"/>
            <a:ext cx="1225300" cy="11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Типы ветвлений</a:t>
            </a:r>
            <a:endParaRPr sz="2500"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11700" y="1152475"/>
            <a:ext cx="4696200" cy="3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Пример: Оценка по баллам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программу, которая по количеству набранных баллов определяет оценку студента.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Входные данные:</a:t>
            </a:r>
            <a:r>
              <a:rPr lang="ru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Количество баллов (целое число от 0 до 100)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4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Выходные данные:</a:t>
            </a:r>
            <a:endParaRPr sz="14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баллы &gt;= 90: "Оценка: 5 (отлично)"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баллы &gt;= 75 и &lt; 90: "Оценка: 4 (хорошо)"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баллы &gt;= 60 и &lt; 75: "Оценка: 3 (удовлетворительно)"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баллы &lt; 60: "Оценка: 2 (неудовлетворительно)"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После определения оценки вывести: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"Результат записан"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450" y="1411650"/>
            <a:ext cx="4190549" cy="279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0975" y="3731950"/>
            <a:ext cx="1225300" cy="11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/>
        </p:nvSpPr>
        <p:spPr>
          <a:xfrm>
            <a:off x="311700" y="303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Операции сравнения</a:t>
            </a:r>
            <a:endParaRPr sz="2500">
              <a:solidFill>
                <a:srgbClr val="000000"/>
              </a:solidFill>
            </a:endParaRPr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825" y="908000"/>
            <a:ext cx="8205199" cy="3481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 txBox="1"/>
          <p:nvPr/>
        </p:nvSpPr>
        <p:spPr>
          <a:xfrm>
            <a:off x="474675" y="4525650"/>
            <a:ext cx="54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highlight>
                  <a:srgbClr val="EEFF41"/>
                </a:highlight>
              </a:rPr>
              <a:t>Важно:</a:t>
            </a:r>
            <a:r>
              <a:rPr b="1" lang="ru">
                <a:solidFill>
                  <a:srgbClr val="000000"/>
                </a:solidFill>
              </a:rPr>
              <a:t> </a:t>
            </a:r>
            <a:r>
              <a:rPr lang="ru">
                <a:solidFill>
                  <a:srgbClr val="000000"/>
                </a:solidFill>
              </a:rPr>
              <a:t>Результатом будет логическое значение </a:t>
            </a:r>
            <a:r>
              <a:rPr b="1" lang="ru">
                <a:solidFill>
                  <a:srgbClr val="000000"/>
                </a:solidFill>
              </a:rPr>
              <a:t>True </a:t>
            </a:r>
            <a:r>
              <a:rPr lang="ru">
                <a:solidFill>
                  <a:srgbClr val="000000"/>
                </a:solidFill>
              </a:rPr>
              <a:t>или </a:t>
            </a:r>
            <a:r>
              <a:rPr b="1" lang="ru">
                <a:solidFill>
                  <a:srgbClr val="000000"/>
                </a:solidFill>
              </a:rPr>
              <a:t>False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Цепочка сравнения (Pythonic)</a:t>
            </a:r>
            <a:endParaRPr sz="2500"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11700" y="1152475"/>
            <a:ext cx="74601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  <a:highlight>
                  <a:srgbClr val="FFFFFF"/>
                </a:highlight>
              </a:rPr>
              <a:t>Цепочка сравнения </a:t>
            </a:r>
            <a:r>
              <a:rPr lang="ru" sz="1400">
                <a:solidFill>
                  <a:schemeClr val="dk1"/>
                </a:solidFill>
                <a:highlight>
                  <a:schemeClr val="lt1"/>
                </a:highlight>
              </a:rPr>
              <a:t>– </a:t>
            </a: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это специальный способ в Python для проверки, находится ли значение в определенном диапазоне.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436050" y="22173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Способ 1: Традиционный</a:t>
            </a:r>
            <a:endParaRPr sz="1600"/>
          </a:p>
        </p:txBody>
      </p:sp>
      <p:pic>
        <p:nvPicPr>
          <p:cNvPr id="156" name="Google Shape;1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050" y="2725275"/>
            <a:ext cx="3790950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 txBox="1"/>
          <p:nvPr/>
        </p:nvSpPr>
        <p:spPr>
          <a:xfrm>
            <a:off x="4405650" y="2217375"/>
            <a:ext cx="392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Способ 2: Pythonic (с цепочкой сравнения)</a:t>
            </a:r>
            <a:endParaRPr sz="1600"/>
          </a:p>
        </p:txBody>
      </p:sp>
      <p:pic>
        <p:nvPicPr>
          <p:cNvPr id="158" name="Google Shape;158;p25"/>
          <p:cNvPicPr preferRelativeResize="0"/>
          <p:nvPr/>
        </p:nvPicPr>
        <p:blipFill rotWithShape="1">
          <a:blip r:embed="rId4">
            <a:alphaModFix/>
          </a:blip>
          <a:srcRect b="0" l="0" r="12587" t="0"/>
          <a:stretch/>
        </p:blipFill>
        <p:spPr>
          <a:xfrm>
            <a:off x="4385825" y="2715750"/>
            <a:ext cx="396305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Типы цепочек сравнения</a:t>
            </a:r>
            <a:endParaRPr sz="2500"/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311700" y="1152475"/>
            <a:ext cx="3516600" cy="4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  <a:highlight>
                  <a:srgbClr val="FFFFFF"/>
                </a:highlight>
              </a:rPr>
              <a:t>Проверка диапазона</a:t>
            </a: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 (самая частая):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65" name="Google Shape;16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250" y="1556625"/>
            <a:ext cx="344805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311700" y="2459100"/>
            <a:ext cx="4358400" cy="4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  <a:highlight>
                  <a:srgbClr val="FFFFFF"/>
                </a:highlight>
              </a:rPr>
              <a:t>Проверка на равенство последовательности: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250" y="2905150"/>
            <a:ext cx="4695825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2225" y="1741300"/>
            <a:ext cx="3590080" cy="11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9875" y="2786750"/>
            <a:ext cx="520065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Частые ошибки с цепочками!</a:t>
            </a:r>
            <a:endParaRPr sz="2500"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311700" y="1152475"/>
            <a:ext cx="3516600" cy="4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  <a:highlight>
                  <a:srgbClr val="FFFFFF"/>
                </a:highlight>
              </a:rPr>
              <a:t>❌ НЕПРАВИЛЬНО: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238" y="1556575"/>
            <a:ext cx="541972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7"/>
          <p:cNvPicPr preferRelativeResize="0"/>
          <p:nvPr/>
        </p:nvPicPr>
        <p:blipFill rotWithShape="1">
          <a:blip r:embed="rId4">
            <a:alphaModFix/>
          </a:blip>
          <a:srcRect b="0" l="0" r="2401" t="0"/>
          <a:stretch/>
        </p:blipFill>
        <p:spPr>
          <a:xfrm>
            <a:off x="371320" y="2795400"/>
            <a:ext cx="541972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2363" y="1170125"/>
            <a:ext cx="2438400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Задача: поход в клуб</a:t>
            </a:r>
            <a:endParaRPr sz="2500"/>
          </a:p>
        </p:txBody>
      </p:sp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9150" y="1170125"/>
            <a:ext cx="5272450" cy="37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8"/>
          <p:cNvSpPr txBox="1"/>
          <p:nvPr/>
        </p:nvSpPr>
        <p:spPr>
          <a:xfrm>
            <a:off x="185950" y="1102925"/>
            <a:ext cx="3566400" cy="24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Условие задачи: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Напишите программу для проверки допуска посетителя в ночной клуб на основе нескольких критериев.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Можно войти, если одновременно выполнены оба условия: есть документ и возраст больше 18 лет.</a:t>
            </a:r>
            <a:endParaRPr sz="12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ИЛИ можно войти, если вы уже член клуба. Возраст при этом не проверяется.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/>
          </a:p>
        </p:txBody>
      </p:sp>
      <p:sp>
        <p:nvSpPr>
          <p:cNvPr id="186" name="Google Shape;186;p28"/>
          <p:cNvSpPr txBox="1"/>
          <p:nvPr/>
        </p:nvSpPr>
        <p:spPr>
          <a:xfrm>
            <a:off x="185950" y="33517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Пример работы программы:</a:t>
            </a:r>
            <a:endParaRPr b="1"/>
          </a:p>
        </p:txBody>
      </p:sp>
      <p:pic>
        <p:nvPicPr>
          <p:cNvPr id="187" name="Google Shape;18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388" y="3721000"/>
            <a:ext cx="2776786" cy="111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Задача: повышение заработной платы</a:t>
            </a:r>
            <a:endParaRPr sz="2500"/>
          </a:p>
        </p:txBody>
      </p:sp>
      <p:pic>
        <p:nvPicPr>
          <p:cNvPr id="193" name="Google Shape;19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9150" y="1170125"/>
            <a:ext cx="5272450" cy="37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/>
          <p:cNvSpPr txBox="1"/>
          <p:nvPr/>
        </p:nvSpPr>
        <p:spPr>
          <a:xfrm>
            <a:off x="185950" y="1102925"/>
            <a:ext cx="3566400" cy="21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Условие задачи: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Напишите программу для системы управления персоналом, которая определяет, может ли сотрудник претендовать на повышение в должности.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Сотрудник может претендовать на повышение, если выполнены оба условия: </a:t>
            </a:r>
            <a:r>
              <a:rPr lang="ru" sz="1200"/>
              <a:t>з</a:t>
            </a:r>
            <a:r>
              <a:rPr lang="ru" sz="1200"/>
              <a:t>арплата выше 50 000 рублей ИЛИ стаж работы больше 5 лет И стаж работы больше 3 лет </a:t>
            </a:r>
            <a:endParaRPr sz="1200" u="sng"/>
          </a:p>
        </p:txBody>
      </p:sp>
      <p:sp>
        <p:nvSpPr>
          <p:cNvPr id="195" name="Google Shape;195;p29"/>
          <p:cNvSpPr txBox="1"/>
          <p:nvPr/>
        </p:nvSpPr>
        <p:spPr>
          <a:xfrm>
            <a:off x="185950" y="35074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Пример работы программы:</a:t>
            </a:r>
            <a:endParaRPr b="1"/>
          </a:p>
        </p:txBody>
      </p:sp>
      <p:pic>
        <p:nvPicPr>
          <p:cNvPr id="196" name="Google Shape;19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950" y="3953823"/>
            <a:ext cx="3365900" cy="8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Вложенные условные операторы</a:t>
            </a:r>
            <a:endParaRPr sz="2500"/>
          </a:p>
        </p:txBody>
      </p:sp>
      <p:sp>
        <p:nvSpPr>
          <p:cNvPr id="202" name="Google Shape;202;p30"/>
          <p:cNvSpPr txBox="1"/>
          <p:nvPr>
            <p:ph idx="1" type="body"/>
          </p:nvPr>
        </p:nvSpPr>
        <p:spPr>
          <a:xfrm>
            <a:off x="311700" y="1152475"/>
            <a:ext cx="5280000" cy="29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  <a:highlight>
                  <a:srgbClr val="FFFFFF"/>
                </a:highlight>
              </a:rPr>
              <a:t>Вложенное условие</a:t>
            </a: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ru" sz="1400">
                <a:solidFill>
                  <a:schemeClr val="dk1"/>
                </a:solidFill>
                <a:highlight>
                  <a:schemeClr val="lt1"/>
                </a:highlight>
              </a:rPr>
              <a:t>-</a:t>
            </a: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 это условный оператор, находящийся внутри блока кода другого условного оператора.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  <a:highlight>
                  <a:srgbClr val="FFFFFF"/>
                </a:highlight>
              </a:rPr>
              <a:t>Правила вложения</a:t>
            </a:r>
            <a:endParaRPr b="1"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178900" lvl="0" marL="269999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Внутренний if должен быть сдвинут еще на 4 пробела.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178900" lvl="0" marL="269999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Можно вкладывать if-else в if, elif, else и комбинировать в любом порядке.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178900" lvl="0" marL="269999" rtl="0" algn="just"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400"/>
              <a:buAutoNum type="arabicPeriod"/>
            </a:pP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Нет ограничений на глубину вложения (но код становится менее читаемым).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203" name="Google Shape;20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4325" y="1301725"/>
            <a:ext cx="3106500" cy="27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Century Gothic"/>
                <a:ea typeface="Century Gothic"/>
                <a:cs typeface="Century Gothic"/>
                <a:sym typeface="Century Gothic"/>
              </a:rPr>
              <a:t>Вложенные условные операторы</a:t>
            </a:r>
            <a:endParaRPr sz="2500"/>
          </a:p>
        </p:txBody>
      </p:sp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311700" y="1049875"/>
            <a:ext cx="81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highlight>
                  <a:srgbClr val="FFFFFF"/>
                </a:highlight>
              </a:rPr>
              <a:t>Даны три целых числа. Определите, сколько среди них совпадающих. 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highlight>
                  <a:srgbClr val="FFFFFF"/>
                </a:highlight>
              </a:rPr>
              <a:t>Вывод: 3 (если все совпадают), 2 (если два совпадает) или 0 (если все числа различны).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210" name="Google Shape;210;p31"/>
          <p:cNvSpPr txBox="1"/>
          <p:nvPr/>
        </p:nvSpPr>
        <p:spPr>
          <a:xfrm>
            <a:off x="295786" y="1717775"/>
            <a:ext cx="274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222222"/>
                </a:solidFill>
                <a:highlight>
                  <a:srgbClr val="FFFFFF"/>
                </a:highlight>
              </a:rPr>
              <a:t>Способ 1:</a:t>
            </a:r>
            <a:r>
              <a:rPr lang="ru" sz="1100">
                <a:solidFill>
                  <a:srgbClr val="222222"/>
                </a:solidFill>
                <a:highlight>
                  <a:srgbClr val="FFFFFF"/>
                </a:highlight>
              </a:rPr>
              <a:t> Использование вложенного условного оператора.</a:t>
            </a:r>
            <a:endParaRPr sz="1100"/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750" y="2240975"/>
            <a:ext cx="2740275" cy="242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1"/>
          <p:cNvSpPr txBox="1"/>
          <p:nvPr/>
        </p:nvSpPr>
        <p:spPr>
          <a:xfrm>
            <a:off x="3115911" y="2099000"/>
            <a:ext cx="274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Способ 2:</a:t>
            </a:r>
            <a:r>
              <a:rPr lang="ru" sz="1100">
                <a:solidFill>
                  <a:schemeClr val="dk1"/>
                </a:solidFill>
              </a:rPr>
              <a:t> </a:t>
            </a:r>
            <a:r>
              <a:rPr lang="ru" sz="11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Использование каскадного условного оператора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13" name="Google Shape;21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5887" y="2692200"/>
            <a:ext cx="2740275" cy="196956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1"/>
          <p:cNvSpPr txBox="1"/>
          <p:nvPr/>
        </p:nvSpPr>
        <p:spPr>
          <a:xfrm>
            <a:off x="5856075" y="2692200"/>
            <a:ext cx="2828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Способ 3: </a:t>
            </a:r>
            <a:r>
              <a:rPr lang="ru" sz="1100">
                <a:solidFill>
                  <a:schemeClr val="dk1"/>
                </a:solidFill>
              </a:rPr>
              <a:t>Каскадный оператор с логическим оператором. (Pythonic)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15" name="Google Shape;21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6000" y="3235850"/>
            <a:ext cx="2740275" cy="1425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97413"/>
            <a:ext cx="8839198" cy="4148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Решение задач</a:t>
            </a:r>
            <a:endParaRPr/>
          </a:p>
        </p:txBody>
      </p:sp>
      <p:sp>
        <p:nvSpPr>
          <p:cNvPr id="226" name="Google Shape;226;p33"/>
          <p:cNvSpPr txBox="1"/>
          <p:nvPr>
            <p:ph idx="1" type="body"/>
          </p:nvPr>
        </p:nvSpPr>
        <p:spPr>
          <a:xfrm>
            <a:off x="311700" y="1152475"/>
            <a:ext cx="552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Задача 1: Начало столетия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Напишите программу, которая определяет, оканчивается ли год с данным номером на два нуля. Если год оканчивается, то выведите «YES» (без кавычек), иначе выведите «NO» (без кавычек).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dk1"/>
                </a:solidFill>
              </a:rPr>
              <a:t>Формат входных данных</a:t>
            </a:r>
            <a:endParaRPr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На вход программе подаётся натуральное число.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dk1"/>
                </a:solidFill>
              </a:rPr>
              <a:t>Формат выходных данных</a:t>
            </a:r>
            <a:endParaRPr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Программа должна вывести текст в соответствии с условием задачи.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7" name="Google Shape;2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4000" y="1170125"/>
            <a:ext cx="2997600" cy="2994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Решение задач</a:t>
            </a:r>
            <a:endParaRPr/>
          </a:p>
        </p:txBody>
      </p:sp>
      <p:sp>
        <p:nvSpPr>
          <p:cNvPr id="233" name="Google Shape;233;p34"/>
          <p:cNvSpPr txBox="1"/>
          <p:nvPr>
            <p:ph idx="1" type="body"/>
          </p:nvPr>
        </p:nvSpPr>
        <p:spPr>
          <a:xfrm>
            <a:off x="351875" y="1152475"/>
            <a:ext cx="512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1"/>
                </a:solidFill>
              </a:rPr>
              <a:t>Задача </a:t>
            </a:r>
            <a:r>
              <a:rPr b="1" lang="ru" sz="1300">
                <a:solidFill>
                  <a:schemeClr val="dk1"/>
                </a:solidFill>
              </a:rPr>
              <a:t>2</a:t>
            </a:r>
            <a:r>
              <a:rPr b="1" lang="ru" sz="1300">
                <a:solidFill>
                  <a:schemeClr val="dk1"/>
                </a:solidFill>
              </a:rPr>
              <a:t>: </a:t>
            </a:r>
            <a:r>
              <a:rPr b="1" lang="ru" sz="1300">
                <a:solidFill>
                  <a:schemeClr val="dk1"/>
                </a:solidFill>
              </a:rPr>
              <a:t>Вид треугольника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Напишите программу, которая классифицирует треугольник на основе длин его сторон.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 u="sng">
                <a:solidFill>
                  <a:schemeClr val="dk1"/>
                </a:solidFill>
              </a:rPr>
              <a:t>Формат входных данных</a:t>
            </a:r>
            <a:endParaRPr sz="12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На вход программе подаются три числа (каждое на отдельной строке) – длины сторон существующего треугольника.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 u="sng">
                <a:solidFill>
                  <a:schemeClr val="dk1"/>
                </a:solidFill>
              </a:rPr>
              <a:t>Формат выходных данных</a:t>
            </a:r>
            <a:endParaRPr sz="12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Программа должна вывести на экран текст – тип треугольника («Равносторонний», «Равнобедренный» или «Разносторонний»).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34" name="Google Shape;234;p34"/>
          <p:cNvPicPr preferRelativeResize="0"/>
          <p:nvPr/>
        </p:nvPicPr>
        <p:blipFill rotWithShape="1">
          <a:blip r:embed="rId3">
            <a:alphaModFix/>
          </a:blip>
          <a:srcRect b="0" l="34474" r="37124" t="0"/>
          <a:stretch/>
        </p:blipFill>
        <p:spPr>
          <a:xfrm>
            <a:off x="5478275" y="1525150"/>
            <a:ext cx="1468424" cy="2199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4"/>
          <p:cNvPicPr preferRelativeResize="0"/>
          <p:nvPr/>
        </p:nvPicPr>
        <p:blipFill rotWithShape="1">
          <a:blip r:embed="rId3">
            <a:alphaModFix/>
          </a:blip>
          <a:srcRect b="0" l="65231" r="0" t="59011"/>
          <a:stretch/>
        </p:blipFill>
        <p:spPr>
          <a:xfrm>
            <a:off x="6970200" y="3724925"/>
            <a:ext cx="1797624" cy="901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 rotWithShape="1">
          <a:blip r:embed="rId3">
            <a:alphaModFix/>
          </a:blip>
          <a:srcRect b="0" l="0" r="67950" t="31096"/>
          <a:stretch/>
        </p:blipFill>
        <p:spPr>
          <a:xfrm>
            <a:off x="7233000" y="445025"/>
            <a:ext cx="1657024" cy="15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Решение задач</a:t>
            </a:r>
            <a:endParaRPr/>
          </a:p>
        </p:txBody>
      </p:sp>
      <p:sp>
        <p:nvSpPr>
          <p:cNvPr id="242" name="Google Shape;242;p35"/>
          <p:cNvSpPr txBox="1"/>
          <p:nvPr>
            <p:ph idx="1" type="body"/>
          </p:nvPr>
        </p:nvSpPr>
        <p:spPr>
          <a:xfrm>
            <a:off x="351875" y="1152475"/>
            <a:ext cx="463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1"/>
                </a:solidFill>
              </a:rPr>
              <a:t>Задача 3: </a:t>
            </a:r>
            <a:r>
              <a:rPr b="1" lang="ru" sz="1300">
                <a:solidFill>
                  <a:schemeClr val="dk1"/>
                </a:solidFill>
              </a:rPr>
              <a:t>Количество дней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Дан порядковый номер месяца. Напишите программу, которая выводит на экран количество дней в этом месяце. Принять, что год является невисокосным.</a:t>
            </a:r>
            <a:r>
              <a:rPr lang="ru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 u="sng">
                <a:solidFill>
                  <a:schemeClr val="dk1"/>
                </a:solidFill>
              </a:rPr>
              <a:t>Формат входных данных</a:t>
            </a:r>
            <a:endParaRPr sz="12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На вход программе подаётся одно целое число – порядковый номер месяца.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 u="sng">
                <a:solidFill>
                  <a:schemeClr val="dk1"/>
                </a:solidFill>
              </a:rPr>
              <a:t>Формат выходных данных</a:t>
            </a:r>
            <a:endParaRPr sz="12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Программа должна вывести количество дней в этом месяце.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highlight>
                  <a:srgbClr val="FFFF00"/>
                </a:highlight>
              </a:rPr>
              <a:t>Важно!</a:t>
            </a:r>
            <a:r>
              <a:rPr lang="ru" sz="1200">
                <a:solidFill>
                  <a:schemeClr val="dk1"/>
                </a:solidFill>
              </a:rPr>
              <a:t> Постарайтесь написать программу так, чтобы в ней было не более трёх условий.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43" name="Google Shape;24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4775" y="1170125"/>
            <a:ext cx="3856825" cy="2736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Решение задач</a:t>
            </a:r>
            <a:endParaRPr/>
          </a:p>
        </p:txBody>
      </p:sp>
      <p:sp>
        <p:nvSpPr>
          <p:cNvPr id="249" name="Google Shape;249;p36"/>
          <p:cNvSpPr txBox="1"/>
          <p:nvPr>
            <p:ph idx="1" type="body"/>
          </p:nvPr>
        </p:nvSpPr>
        <p:spPr>
          <a:xfrm>
            <a:off x="351875" y="1152475"/>
            <a:ext cx="4429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1"/>
                </a:solidFill>
              </a:rPr>
              <a:t>Задача 4: </a:t>
            </a:r>
            <a:r>
              <a:rPr b="1" lang="ru" sz="1300">
                <a:solidFill>
                  <a:schemeClr val="dk1"/>
                </a:solidFill>
              </a:rPr>
              <a:t>Церемония взвешивания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Известен вес боксёра-любителя (целое число). Известно, что вес таков, что боксер может быть отнесён к одной из трёх весовых категорий: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Легкий вес – до 60 60 кг (невключительно);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Первый полусредний вес – до  64 кг (невключительно);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Полусредний вес – до 69 кг (невключительно).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Напишите программу, определяющую, в какой категории будет выступать данный боксёр.</a:t>
            </a:r>
            <a:r>
              <a:rPr lang="ru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50" name="Google Shape;25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4075" y="1170125"/>
            <a:ext cx="4057524" cy="2859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Решение задач</a:t>
            </a:r>
            <a:endParaRPr/>
          </a:p>
        </p:txBody>
      </p:sp>
      <p:sp>
        <p:nvSpPr>
          <p:cNvPr id="256" name="Google Shape;256;p37"/>
          <p:cNvSpPr txBox="1"/>
          <p:nvPr>
            <p:ph idx="1" type="body"/>
          </p:nvPr>
        </p:nvSpPr>
        <p:spPr>
          <a:xfrm>
            <a:off x="351875" y="1152475"/>
            <a:ext cx="4429800" cy="3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1"/>
                </a:solidFill>
              </a:rPr>
              <a:t>Задача 5: </a:t>
            </a:r>
            <a:r>
              <a:rPr b="1" lang="ru" sz="1300">
                <a:solidFill>
                  <a:schemeClr val="dk1"/>
                </a:solidFill>
              </a:rPr>
              <a:t>Цветовой микшер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Красный, синий и желтый называются основными цветами, потому что их нельзя получить путем смешения других цветов. При смешивании двух основных цветов получается вторичный цвет: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1200">
                <a:solidFill>
                  <a:schemeClr val="dk1"/>
                </a:solidFill>
              </a:rPr>
              <a:t>если смешать красный и синий, то получится фиолетовый;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1200">
                <a:solidFill>
                  <a:schemeClr val="dk1"/>
                </a:solidFill>
              </a:rPr>
              <a:t>если смешать красный и желтый, то получится оранжевый;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1200">
                <a:solidFill>
                  <a:schemeClr val="dk1"/>
                </a:solidFill>
              </a:rPr>
              <a:t>если смешать синий и желтый, то получится зеленый.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Напишите программу, которая считывает названия двух основных цветов для смешивания.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Если пользователь вводит что-нибудь помимо названий «красный», «синий» или «желтый», то программа должна вывести сообщение об ошибке.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В противном случае программа должна вывести название вторичного цвета, который получится в результате.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57" name="Google Shape;25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4075" y="1170125"/>
            <a:ext cx="4057526" cy="286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 лекции</a:t>
            </a:r>
            <a:endParaRPr/>
          </a:p>
        </p:txBody>
      </p:sp>
      <p:sp>
        <p:nvSpPr>
          <p:cNvPr id="263" name="Google Shape;26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Ключевые концепции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Ветвления позволяют программе выбирать различные пути выполнения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Простые условия - это сравнения (==, !=, &lt;, &gt;, &lt;=, &gt;=)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Сложные условия - комбинация простых через логические операторы (and, or, not)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Синтаксис Python:</a:t>
            </a:r>
            <a:endParaRPr b="1">
              <a:solidFill>
                <a:schemeClr val="dk1"/>
              </a:solidFill>
            </a:endParaRPr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if условие: для простого ветвления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if-else: для полного ветвления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if-elif-else: для множественного выбора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Вложенные условия позволяют проверять сложные сценарии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Приоритет операций важен для правильной интерпретации условий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64" name="Google Shape;26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4975" y="3009225"/>
            <a:ext cx="243840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