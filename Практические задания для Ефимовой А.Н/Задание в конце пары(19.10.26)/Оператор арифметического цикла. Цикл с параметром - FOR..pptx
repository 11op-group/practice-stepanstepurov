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p:regular r:id="rId33"/>
      <p:bold r:id="rId34"/>
      <p:italic r:id="rId35"/>
      <p:boldItalic r:id="rId36"/>
    </p:embeddedFont>
    <p:embeddedFont>
      <p:font typeface="Montserrat Medium"/>
      <p:regular r:id="rId37"/>
      <p:bold r:id="rId38"/>
      <p:italic r:id="rId39"/>
      <p:boldItalic r:id="rId40"/>
    </p:embeddedFont>
    <p:embeddedFont>
      <p:font typeface="Roboto Light"/>
      <p:regular r:id="rId41"/>
      <p:bold r:id="rId42"/>
      <p:italic r:id="rId43"/>
      <p:boldItalic r:id="rId44"/>
    </p:embeddedFont>
    <p:embeddedFont>
      <p:font typeface="Century Gothic"/>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41">
          <p15:clr>
            <a:srgbClr val="A4A3A4"/>
          </p15:clr>
        </p15:guide>
        <p15:guide id="2" pos="263">
          <p15:clr>
            <a:srgbClr val="747775"/>
          </p15:clr>
        </p15:guide>
        <p15:guide id="3" pos="204">
          <p15:clr>
            <a:srgbClr val="747775"/>
          </p15:clr>
        </p15:guide>
        <p15:guide id="4" pos="26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1" orient="horz"/>
        <p:guide pos="263"/>
        <p:guide pos="204"/>
        <p:guide pos="26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Italic.fntdata"/><Relationship Id="rId20" Type="http://schemas.openxmlformats.org/officeDocument/2006/relationships/slide" Target="slides/slide15.xml"/><Relationship Id="rId42" Type="http://schemas.openxmlformats.org/officeDocument/2006/relationships/font" Target="fonts/RobotoLight-bold.fntdata"/><Relationship Id="rId41" Type="http://schemas.openxmlformats.org/officeDocument/2006/relationships/font" Target="fonts/RobotoLight-regular.fntdata"/><Relationship Id="rId22" Type="http://schemas.openxmlformats.org/officeDocument/2006/relationships/slide" Target="slides/slide17.xml"/><Relationship Id="rId44" Type="http://schemas.openxmlformats.org/officeDocument/2006/relationships/font" Target="fonts/RobotoLight-boldItalic.fntdata"/><Relationship Id="rId21" Type="http://schemas.openxmlformats.org/officeDocument/2006/relationships/slide" Target="slides/slide16.xml"/><Relationship Id="rId43" Type="http://schemas.openxmlformats.org/officeDocument/2006/relationships/font" Target="fonts/RobotoLight-italic.fntdata"/><Relationship Id="rId24" Type="http://schemas.openxmlformats.org/officeDocument/2006/relationships/slide" Target="slides/slide19.xml"/><Relationship Id="rId46" Type="http://schemas.openxmlformats.org/officeDocument/2006/relationships/font" Target="fonts/CenturyGothic-bold.fntdata"/><Relationship Id="rId23" Type="http://schemas.openxmlformats.org/officeDocument/2006/relationships/slide" Target="slides/slide18.xml"/><Relationship Id="rId45" Type="http://schemas.openxmlformats.org/officeDocument/2006/relationships/font" Target="fonts/CenturyGothic-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CenturyGothic-boldItalic.fntdata"/><Relationship Id="rId25" Type="http://schemas.openxmlformats.org/officeDocument/2006/relationships/slide" Target="slides/slide20.xml"/><Relationship Id="rId47" Type="http://schemas.openxmlformats.org/officeDocument/2006/relationships/font" Target="fonts/CenturyGothic-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37" Type="http://schemas.openxmlformats.org/officeDocument/2006/relationships/font" Target="fonts/MontserratMedium-regular.fntdata"/><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39" Type="http://schemas.openxmlformats.org/officeDocument/2006/relationships/font" Target="fonts/MontserratMedium-italic.fntdata"/><Relationship Id="rId16" Type="http://schemas.openxmlformats.org/officeDocument/2006/relationships/slide" Target="slides/slide11.xml"/><Relationship Id="rId38" Type="http://schemas.openxmlformats.org/officeDocument/2006/relationships/font" Target="fonts/Montserrat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70000"/>
              </a:lnSpc>
              <a:spcBef>
                <a:spcPts val="0"/>
              </a:spcBef>
              <a:spcAft>
                <a:spcPts val="0"/>
              </a:spcAft>
              <a:buClr>
                <a:schemeClr val="dk1"/>
              </a:buClr>
              <a:buSzPts val="1100"/>
              <a:buFont typeface="Arial"/>
              <a:buNone/>
            </a:pPr>
            <a:r>
              <a:rPr lang="ru">
                <a:solidFill>
                  <a:srgbClr val="555555"/>
                </a:solidFill>
                <a:highlight>
                  <a:srgbClr val="FFFFFF"/>
                </a:highlight>
                <a:latin typeface="Georgia"/>
                <a:ea typeface="Georgia"/>
                <a:cs typeface="Georgia"/>
                <a:sym typeface="Georgia"/>
              </a:rPr>
              <a:t>Сегодня мы начинаем большую и очень важную главу — «Циклические алгоритмы».</a:t>
            </a:r>
            <a:endParaRPr>
              <a:solidFill>
                <a:srgbClr val="555555"/>
              </a:solidFill>
              <a:highlight>
                <a:srgbClr val="FFFFFF"/>
              </a:highlight>
              <a:latin typeface="Georgia"/>
              <a:ea typeface="Georgia"/>
              <a:cs typeface="Georgia"/>
              <a:sym typeface="Georgia"/>
            </a:endParaRPr>
          </a:p>
          <a:p>
            <a:pPr indent="0" lvl="0" marL="0" rtl="0" algn="l">
              <a:lnSpc>
                <a:spcPct val="170000"/>
              </a:lnSpc>
              <a:spcBef>
                <a:spcPts val="0"/>
              </a:spcBef>
              <a:spcAft>
                <a:spcPts val="0"/>
              </a:spcAft>
              <a:buClr>
                <a:schemeClr val="dk1"/>
              </a:buClr>
              <a:buSzPts val="1100"/>
              <a:buFont typeface="Arial"/>
              <a:buNone/>
            </a:pPr>
            <a:r>
              <a:rPr lang="ru">
                <a:solidFill>
                  <a:srgbClr val="555555"/>
                </a:solidFill>
                <a:highlight>
                  <a:srgbClr val="FFFFFF"/>
                </a:highlight>
                <a:latin typeface="Georgia"/>
                <a:ea typeface="Georgia"/>
                <a:cs typeface="Georgia"/>
                <a:sym typeface="Georgia"/>
              </a:rPr>
              <a:t>До этого мы писали программы, которые шли сверху вниз, иногда ветвились. Но реальная сила компьютера — в умении делать одно и то же действие тысячи, миллионы раз без усталости.</a:t>
            </a:r>
            <a:endParaRPr>
              <a:solidFill>
                <a:srgbClr val="555555"/>
              </a:solidFill>
              <a:highlight>
                <a:srgbClr val="FFFFFF"/>
              </a:highlight>
              <a:latin typeface="Georgia"/>
              <a:ea typeface="Georgia"/>
              <a:cs typeface="Georgia"/>
              <a:sym typeface="Georgia"/>
            </a:endParaRPr>
          </a:p>
          <a:p>
            <a:pPr indent="0" lvl="0" marL="0" rtl="0" algn="l">
              <a:lnSpc>
                <a:spcPct val="170000"/>
              </a:lnSpc>
              <a:spcBef>
                <a:spcPts val="0"/>
              </a:spcBef>
              <a:spcAft>
                <a:spcPts val="0"/>
              </a:spcAft>
              <a:buClr>
                <a:schemeClr val="dk1"/>
              </a:buClr>
              <a:buSzPts val="1100"/>
              <a:buFont typeface="Arial"/>
              <a:buNone/>
            </a:pPr>
            <a:r>
              <a:rPr lang="ru">
                <a:solidFill>
                  <a:srgbClr val="555555"/>
                </a:solidFill>
                <a:highlight>
                  <a:srgbClr val="FFFFFF"/>
                </a:highlight>
                <a:latin typeface="Georgia"/>
                <a:ea typeface="Georgia"/>
                <a:cs typeface="Georgia"/>
                <a:sym typeface="Georgia"/>
              </a:rPr>
              <a:t>Сегодня разберем самый популярный инструмент для этого — цикл с параметром </a:t>
            </a:r>
            <a:r>
              <a:rPr lang="ru" sz="1000">
                <a:solidFill>
                  <a:srgbClr val="D63384"/>
                </a:solidFill>
                <a:highlight>
                  <a:srgbClr val="EFEFEF"/>
                </a:highlight>
                <a:latin typeface="Courier New"/>
                <a:ea typeface="Courier New"/>
                <a:cs typeface="Courier New"/>
                <a:sym typeface="Courier New"/>
              </a:rPr>
              <a:t>for</a:t>
            </a:r>
            <a:r>
              <a:rPr lang="ru">
                <a:solidFill>
                  <a:srgbClr val="555555"/>
                </a:solidFill>
                <a:highlight>
                  <a:srgbClr val="FFFFFF"/>
                </a:highlight>
                <a:latin typeface="Georgia"/>
                <a:ea typeface="Georgia"/>
                <a:cs typeface="Georgia"/>
                <a:sym typeface="Georgia"/>
              </a:rPr>
              <a:t>. Запишите тему урока.</a:t>
            </a:r>
            <a:endParaRPr>
              <a:solidFill>
                <a:srgbClr val="55555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a4569864e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a4569864e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648201ad6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648201ad6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Напомню, что мы знаем о циклах. Циклические алгоритмы – это структуры, которые позволяют повторять одни и те же действия несколько раз. На прошлой лекции мы вкратце упоминали три типа циклических структур. Сегодня мы сфокусируемся на одной из самых удобных и часто используемых конструкций – цикле с параметром. Его еще называют циклом со счетчиком или арифметическим циклом.</a:t>
            </a:r>
            <a:br>
              <a:rPr lang="ru"/>
            </a:br>
            <a:br>
              <a:rPr lang="ru"/>
            </a:br>
            <a:r>
              <a:rPr lang="ru"/>
              <a:t>Вспомним примеры: когда маляр красит забор, он повторяет один и тот же набор действий для каждого следующего участка. Точно так же, когда работник приемной комиссии проверяет документы абитуриентов, процесс проверки повторяется для каждого нового поступившего. В программировании это работает по тому же принципу."</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b983defc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b983defc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Любой циклический алгоритм, независимо от его типа, содержит четыре ключевых компонента, которые нужно хорошо понимать. </a:t>
            </a:r>
            <a:br>
              <a:rPr lang="ru" sz="1300"/>
            </a:br>
            <a:r>
              <a:rPr lang="ru" sz="1300"/>
              <a:t>Первое – это инициализация или подготовка цикла. Здесь мы задаем исходные значения. Например, если нам нужно вывести числа от 1 до 10, здесь мы говорим: 'начинаем с единицы'. Второе – тело цикла. Это команды, которые будут повторяться. В нашем примере – вывести текущее число на экран. Третье – изменение счетчика. Это очень важно! Без этого цикл будет повторяться бесконечно. После каждого повторения счетчик должен измениться. В нашем примере – увеличиться на единицу. И четвёртое – условие завершения. Это проверка: 'продолжаем ли мы цикл или заканчиваем?' В примере с числами: 'если счетчик еще не больше 10, продолжаем; если равен 11, выходим из цикла'. Все эти компоненты работают вместе как часовой механизм.</a:t>
            </a:r>
            <a:endParaRPr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b983defc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b983defc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"Цикл с параметром – это специальная структура, которая отличается тем, что количество повторений известно заранее. У этого цикла есть несколько названий. В некоторых языках программирования его называют 'for-цикл', потому что на английском языке он начинается со слова 'for'. Его также называют 'циклом со счетчиком', потому что главную роль в нем играет переменная-счетчик. И еще его называют 'арифметическим циклом', потому что значение счетчика изменяется по арифметическому правилу – обычно увеличивается или уменьшается на постоянную величину. Этот цикл удобен тогда, когда мы заранее знаем, сколько раз нужно повторить действие. Например, вывести список товаров, обработать данные таблицы, вычислить сумму 100 чисел – во всех этих случаях мы знаем количество повторений."</a:t>
            </a:r>
            <a:endParaRPr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b983defc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b983defc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Теперь давайте разберемся с синтаксисом. Это может показаться сложным, но когда вы напишете несколько циклов, это станет интуитивным. Ключевое слово 'for' говорит компьютеру: 'сейчас будет цикл с параметром'. Далее идет переменная_цикла – это переменная-счетчик. Обычно ее обозначают буквой i (от слова 'iteration' – итерация), но это может быть любое имя.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ru" sz="1300"/>
              <a:t>'in range()' – это говорит, что параметр будет принимать значения из последовательности, которую генерирует функция range. </a:t>
            </a:r>
            <a:endParaRPr sz="1300"/>
          </a:p>
          <a:p>
            <a:pPr indent="0" lvl="0" marL="0" rtl="0" algn="l">
              <a:spcBef>
                <a:spcPts val="0"/>
              </a:spcBef>
              <a:spcAft>
                <a:spcPts val="0"/>
              </a:spcAft>
              <a:buNone/>
            </a:pPr>
            <a:br>
              <a:rPr lang="ru" sz="1300"/>
            </a:br>
            <a:r>
              <a:rPr lang="ru" sz="1300"/>
              <a:t>Внутри range мы указываем:- Начало – с какого числа начинается последовательность- Конец – на каком числе последовательность заканчивается (внимание! само это число не включается)-</a:t>
            </a:r>
            <a:br>
              <a:rPr lang="ru" sz="1300"/>
            </a:br>
            <a:br>
              <a:rPr lang="ru" sz="1300"/>
            </a:br>
            <a:r>
              <a:rPr lang="ru" sz="1300"/>
              <a:t>Шаг – на сколько увеличивается счетчик каждый раз Например, range(1, 6) даст нам числа 1, 2, 3, 4, 5. Заметьте, 6 не включается! После закрывающей скобки range обязательно ставится двоеточие ':'. </a:t>
            </a:r>
            <a:br>
              <a:rPr lang="ru" sz="1300"/>
            </a:br>
            <a:br>
              <a:rPr lang="ru" sz="1300"/>
            </a:br>
            <a:r>
              <a:rPr lang="ru" sz="1300"/>
              <a:t>Тело цикла(блок кода) – это все команды, которые нужно повторить. Они должны быть написаны с отступом (обычно 4 пробела или одна табуляция). Python использует отступы для обозначения блоков кода. Это важно! Когда вы закончили писать команды, которые должны повторяться, вы возвращаетесь к левому краю без отступа – это означает конец цикла.</a:t>
            </a:r>
            <a:endParaRPr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b983defc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b983defc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Давайте подробнее поговорим о счетчике цикла. Это очень важный элемент. </a:t>
            </a:r>
            <a:br>
              <a:rPr lang="ru" sz="1300"/>
            </a:br>
            <a:r>
              <a:rPr lang="ru" sz="1300"/>
              <a:t>Счетчик – это переменная, которая изменяется с каждым повторением цикла. Обычно ее называют i, что происходит от английского слова 'iteration' – итерация, то есть повторение. Для счетчика есть несколько правил: </a:t>
            </a:r>
            <a:br>
              <a:rPr lang="ru" sz="1300"/>
            </a:br>
            <a:r>
              <a:rPr lang="ru" sz="1300"/>
              <a:t>Первое – имя должно быть понятным. Традиционно используют i для первого цикла, j для второго вложенного цикла, k для третьего. Но вы можете дать и более описательное имя, например, 'number' или 'index'. </a:t>
            </a:r>
            <a:br>
              <a:rPr lang="ru" sz="1300"/>
            </a:br>
            <a:r>
              <a:rPr lang="ru" sz="1300"/>
              <a:t>Второе – счетчик должен быть инициализирован. В случае for-цикла это происходит автоматически через range(), но нужно понимать, что счетчик всегда начинает с какого-то значения. Третье – счетчик меняется с каждой итерацией. Это может быть увеличение на 1, на 2, или даже на -1 (уменьшение). </a:t>
            </a:r>
            <a:br>
              <a:rPr lang="ru" sz="1300"/>
            </a:br>
            <a:r>
              <a:rPr lang="ru" sz="1300"/>
              <a:t>И четвертое – внимание! После цикла счетчик все еще существует. Если цикл завершен нормально, счетчик будет иметь то значение, при котором условие цикла стало ложным. Например, если мы цикл `for i in range(10)`, то после цикла i будет равно 9. Это может привести к ошибкам, если вы не учтете это в своем коде.</a:t>
            </a:r>
            <a:endParaRPr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b983defc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b983defc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b983defc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b983defc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b983defc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b983defc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Давайте разберем функцию range() более детально, потому что она может быть обманчива.</a:t>
            </a:r>
            <a:br>
              <a:rPr lang="ru" sz="1300"/>
            </a:br>
            <a:br>
              <a:rPr lang="ru" sz="1300"/>
            </a:br>
            <a:r>
              <a:rPr lang="ru" sz="1300"/>
              <a:t>Первый пример: range(5). Если мы указываем только одно число, то это конец последовательности, а начало автоматически считается нулем. </a:t>
            </a:r>
            <a:br>
              <a:rPr lang="ru" sz="1300"/>
            </a:br>
            <a:br>
              <a:rPr lang="ru" sz="1300"/>
            </a:br>
            <a:r>
              <a:rPr lang="ru" sz="1300"/>
              <a:t>Получаем: 0, 1, 2, 3, 4. Пять чисел, но 5 не входит!</a:t>
            </a:r>
            <a:endParaRPr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b983defc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b983defc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Второй пример: range(3, 7). Теперь мы явно указали начало (3) и конец (7). Получаем числа от 3 до 6 включительно. Опять же, 7 не входит.</a:t>
            </a:r>
            <a:endParaRPr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b983defc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b983defc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Третий пример: range(3, 10, 2). Здесь мы начинаем с 3, идем до 10, но прыгаем через каждое второе число. Получаем: 3, 5, 7, 9. </a:t>
            </a:r>
            <a:endParaRPr sz="1300"/>
          </a:p>
          <a:p>
            <a:pPr indent="0" lvl="0" marL="0" rtl="0" algn="l">
              <a:spcBef>
                <a:spcPts val="0"/>
              </a:spcBef>
              <a:spcAft>
                <a:spcPts val="0"/>
              </a:spcAft>
              <a:buNone/>
            </a:pPr>
            <a:r>
              <a:rPr lang="ru" sz="1300"/>
              <a:t>Это может быть полезно, если нужны только нечетные числа.</a:t>
            </a:r>
            <a:endParaRPr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b983defc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b983defc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Четвертый пример – это очень важный момент. range(10, 3, -1). </a:t>
            </a:r>
            <a:endParaRPr sz="1300"/>
          </a:p>
          <a:p>
            <a:pPr indent="0" lvl="0" marL="0" rtl="0" algn="l">
              <a:spcBef>
                <a:spcPts val="0"/>
              </a:spcBef>
              <a:spcAft>
                <a:spcPts val="0"/>
              </a:spcAft>
              <a:buNone/>
            </a:pPr>
            <a:r>
              <a:rPr lang="ru" sz="1300"/>
              <a:t>Здесь шаг отрицательный, -1. </a:t>
            </a:r>
            <a:endParaRPr sz="1300"/>
          </a:p>
          <a:p>
            <a:pPr indent="0" lvl="0" marL="0" rtl="0" algn="l">
              <a:spcBef>
                <a:spcPts val="0"/>
              </a:spcBef>
              <a:spcAft>
                <a:spcPts val="0"/>
              </a:spcAft>
              <a:buNone/>
            </a:pPr>
            <a:r>
              <a:rPr lang="ru" sz="1300"/>
              <a:t>Это означает, что счетчик не увеличивается, а уменьшается. </a:t>
            </a:r>
            <a:endParaRPr sz="1300"/>
          </a:p>
          <a:p>
            <a:pPr indent="0" lvl="0" marL="0" rtl="0" algn="l">
              <a:spcBef>
                <a:spcPts val="0"/>
              </a:spcBef>
              <a:spcAft>
                <a:spcPts val="0"/>
              </a:spcAft>
              <a:buNone/>
            </a:pPr>
            <a:r>
              <a:rPr lang="ru" sz="1300"/>
              <a:t>Начинаем с 10, идем вниз, и останавливаемся перед 3. </a:t>
            </a:r>
            <a:endParaRPr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b983defca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b983defc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b983defc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b983defca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b983defc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b983defc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sum = 0 </a:t>
            </a:r>
            <a:br>
              <a:rPr lang="ru" sz="1300"/>
            </a:br>
            <a:r>
              <a:rPr lang="ru" sz="1300"/>
              <a:t>for i in range(1, 101):    </a:t>
            </a:r>
            <a:br>
              <a:rPr lang="ru" sz="1300"/>
            </a:br>
            <a:r>
              <a:rPr lang="ru" sz="1300"/>
              <a:t>	sum = sum + i </a:t>
            </a:r>
            <a:br>
              <a:rPr lang="ru" sz="1300"/>
            </a:br>
            <a:r>
              <a:rPr lang="ru" sz="1300"/>
              <a:t>print(sum)</a:t>
            </a:r>
            <a:br>
              <a:rPr lang="ru" sz="1300"/>
            </a:br>
            <a:br>
              <a:rPr lang="ru" sz="1300"/>
            </a:br>
            <a:r>
              <a:rPr lang="ru" sz="1300"/>
              <a:t>sum = 0 </a:t>
            </a:r>
            <a:br>
              <a:rPr lang="ru" sz="1300"/>
            </a:br>
            <a:r>
              <a:rPr lang="ru" sz="1300"/>
              <a:t>for i in range(1, 101):    </a:t>
            </a:r>
            <a:br>
              <a:rPr lang="ru" sz="1300"/>
            </a:br>
            <a:r>
              <a:rPr lang="ru" sz="1300"/>
              <a:t>	sum += i </a:t>
            </a:r>
            <a:br>
              <a:rPr lang="ru" sz="1300"/>
            </a:br>
            <a:r>
              <a:rPr lang="ru" sz="1300"/>
              <a:t>print(sum)</a:t>
            </a:r>
            <a:br>
              <a:rPr lang="ru" sz="1300"/>
            </a:br>
            <a:br>
              <a:rPr lang="ru" sz="1300"/>
            </a:br>
            <a:r>
              <a:rPr lang="ru" sz="1300"/>
              <a:t>Такие циклы очень часто используются для накопления результата – суммы, произведения, поиска минимума или максимума."</a:t>
            </a:r>
            <a:endParaRPr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b983defca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b983defc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"Теперь давайте решим более практичный пример. Нужно вывести таблицу умножения на 7. Входные данные – число 7. Выходные данные – его произведения с числами от 1 до 10. Посмотрите на блок-схему. Первый шаг – устанавливаем a равно 7. Это наше число, на которое мы будем умножать. Потом инициализируем счетчик i единицей. Далее – условие: i меньше или равно 10? Если да, мы выводим произведение, увеличиваем i и возвращаемся к проверке условия. Вот код: ```python a = 7 for i in range(1, 11):    print(f"{a} × {i} = {a * i}") ``` Здесь я использую f-строку (форматированная строка) для красивого вывода. В фигурных скобках мы указываем переменные, которые подставляются в строку. На экран выведется: 7 × 1 = 7 7 × 2 = 14 7 × 3 = 21 и так далее до 7 × 10 = 70 Видите, как цикл с параметром идеально подходит для этой задачи? Мы знаем, что нужно вывести ровно 10 строк, и for-цикл это делает очень просто."</a:t>
            </a:r>
            <a:endParaRPr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b983defc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b983defc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a = 7 </a:t>
            </a:r>
            <a:br>
              <a:rPr lang="ru" sz="1300"/>
            </a:br>
            <a:r>
              <a:rPr lang="ru" sz="1300"/>
              <a:t>for i in range(1, 11):    </a:t>
            </a:r>
            <a:br>
              <a:rPr lang="ru" sz="1300"/>
            </a:br>
            <a:r>
              <a:rPr lang="ru" sz="1300"/>
              <a:t>	print(f"{a} × {i} = {a * i}")</a:t>
            </a:r>
            <a:br>
              <a:rPr lang="ru" sz="1300"/>
            </a:br>
            <a:endParaRPr sz="13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b983defca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b983defca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1"/>
                </a:solidFill>
                <a:latin typeface="Roboto"/>
                <a:ea typeface="Roboto"/>
                <a:cs typeface="Roboto"/>
                <a:sym typeface="Roboto"/>
              </a:rPr>
              <a:t>Break – это выход из цикла. </a:t>
            </a: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Когда программа встречает break, цикл немедленно заканчивается. </a:t>
            </a: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Представьте: вы ищите нужный файл в папке. Когда вы его нашли, зачем искать дальше? Вы выходите из поиска. Точно так же и break. </a:t>
            </a: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Пример: ```python for i in range(10) Здесь цикл должен был выполниться 10 раз (0-9), но когда i достигает 5, встречается break, и цикл завершается.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ru" sz="1200">
                <a:solidFill>
                  <a:schemeClr val="dk1"/>
                </a:solidFill>
                <a:latin typeface="Roboto"/>
                <a:ea typeface="Roboto"/>
                <a:cs typeface="Roboto"/>
                <a:sym typeface="Roboto"/>
              </a:rPr>
              <a:t>Continue – это наоборот, пропуск текущей итерации. Когда встречается continue, остаток текущей итерации пропускается, и цикл переходит к следующей итерации. </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ru" sz="1200">
                <a:solidFill>
                  <a:schemeClr val="dk1"/>
                </a:solidFill>
                <a:latin typeface="Roboto"/>
                <a:ea typeface="Roboto"/>
                <a:cs typeface="Roboto"/>
                <a:sym typeface="Roboto"/>
              </a:rPr>
              <a:t>Как работает:</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ru" sz="1200">
                <a:solidFill>
                  <a:schemeClr val="dk1"/>
                </a:solidFill>
                <a:latin typeface="Roboto"/>
                <a:ea typeface="Roboto"/>
                <a:cs typeface="Roboto"/>
                <a:sym typeface="Roboto"/>
              </a:rPr>
              <a:t>Цикл перебирает числа 0, 1, 2, 3, 4.​</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Когда </a:t>
            </a:r>
            <a:r>
              <a:rPr lang="ru" sz="1050">
                <a:solidFill>
                  <a:srgbClr val="188038"/>
                </a:solidFill>
                <a:latin typeface="Courier New"/>
                <a:ea typeface="Courier New"/>
                <a:cs typeface="Courier New"/>
                <a:sym typeface="Courier New"/>
              </a:rPr>
              <a:t>i == 2</a:t>
            </a:r>
            <a:r>
              <a:rPr lang="ru" sz="1200">
                <a:solidFill>
                  <a:schemeClr val="dk1"/>
                </a:solidFill>
                <a:latin typeface="Roboto"/>
                <a:ea typeface="Roboto"/>
                <a:cs typeface="Roboto"/>
                <a:sym typeface="Roboto"/>
              </a:rPr>
              <a:t>, срабатывает </a:t>
            </a:r>
            <a:r>
              <a:rPr lang="ru" sz="1050">
                <a:solidFill>
                  <a:srgbClr val="188038"/>
                </a:solidFill>
                <a:latin typeface="Courier New"/>
                <a:ea typeface="Courier New"/>
                <a:cs typeface="Courier New"/>
                <a:sym typeface="Courier New"/>
              </a:rPr>
              <a:t>continue</a:t>
            </a:r>
            <a:r>
              <a:rPr lang="ru" sz="1200">
                <a:solidFill>
                  <a:schemeClr val="dk1"/>
                </a:solidFill>
                <a:latin typeface="Roboto"/>
                <a:ea typeface="Roboto"/>
                <a:cs typeface="Roboto"/>
                <a:sym typeface="Roboto"/>
              </a:rPr>
              <a:t>, и </a:t>
            </a:r>
            <a:r>
              <a:rPr lang="ru" sz="1050">
                <a:solidFill>
                  <a:srgbClr val="188038"/>
                </a:solidFill>
                <a:latin typeface="Courier New"/>
                <a:ea typeface="Courier New"/>
                <a:cs typeface="Courier New"/>
                <a:sym typeface="Courier New"/>
              </a:rPr>
              <a:t>print(i)</a:t>
            </a:r>
            <a:r>
              <a:rPr lang="ru" sz="1200">
                <a:solidFill>
                  <a:schemeClr val="dk1"/>
                </a:solidFill>
                <a:latin typeface="Roboto"/>
                <a:ea typeface="Roboto"/>
                <a:cs typeface="Roboto"/>
                <a:sym typeface="Roboto"/>
              </a:rPr>
              <a:t> пропускается.​</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Для остальных значений </a:t>
            </a:r>
            <a:r>
              <a:rPr lang="ru" sz="1050">
                <a:solidFill>
                  <a:srgbClr val="188038"/>
                </a:solidFill>
                <a:latin typeface="Courier New"/>
                <a:ea typeface="Courier New"/>
                <a:cs typeface="Courier New"/>
                <a:sym typeface="Courier New"/>
              </a:rPr>
              <a:t>print(i)</a:t>
            </a:r>
            <a:r>
              <a:rPr lang="ru" sz="1200">
                <a:solidFill>
                  <a:schemeClr val="dk1"/>
                </a:solidFill>
                <a:latin typeface="Roboto"/>
                <a:ea typeface="Roboto"/>
                <a:cs typeface="Roboto"/>
                <a:sym typeface="Roboto"/>
              </a:rPr>
              <a:t> выполняется.</a:t>
            </a:r>
            <a:endParaRPr sz="1200">
              <a:solidFill>
                <a:schemeClr val="dk1"/>
              </a:solidFill>
              <a:latin typeface="Roboto"/>
              <a:ea typeface="Roboto"/>
              <a:cs typeface="Roboto"/>
              <a:sym typeface="Roboto"/>
            </a:endParaRPr>
          </a:p>
          <a:p>
            <a:pPr indent="0" lvl="0" marL="0" rtl="0" algn="l">
              <a:spcBef>
                <a:spcPts val="0"/>
              </a:spcBef>
              <a:spcAft>
                <a:spcPts val="0"/>
              </a:spcAft>
              <a:buNone/>
            </a:pPr>
            <a:br>
              <a:rPr lang="ru" sz="1200">
                <a:solidFill>
                  <a:schemeClr val="dk1"/>
                </a:solidFill>
                <a:latin typeface="Roboto"/>
                <a:ea typeface="Roboto"/>
                <a:cs typeface="Roboto"/>
                <a:sym typeface="Roboto"/>
              </a:rPr>
            </a:b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Когда вы выводите только нечетные числа или пропускаете некорректные данные – используйте continue. Когда вы нашли то, что искали – используйте break."</a:t>
            </a:r>
            <a:endParaRPr sz="13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b983defca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b983defca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Давайте решим простую задачу тремя разными способами, чтобы показать гибкость цикла с параметром. </a:t>
            </a:r>
            <a:endParaRPr sz="1300"/>
          </a:p>
          <a:p>
            <a:pPr indent="0" lvl="0" marL="0" rtl="0" algn="l">
              <a:spcBef>
                <a:spcPts val="0"/>
              </a:spcBef>
              <a:spcAft>
                <a:spcPts val="0"/>
              </a:spcAft>
              <a:buNone/>
            </a:pPr>
            <a:br>
              <a:rPr lang="ru" sz="1300"/>
            </a:br>
            <a:r>
              <a:rPr lang="ru" sz="1300"/>
              <a:t>Способ 1 – это то, что мы обсуждали раньше. Используем шаг в range(). Начинаем с 1, идем до 21 (но 21 не включается), и прыгаем на 2. Получаем 1, 3, 5... 19. Это самый эффективный способ, потому что мы не проверяем никакие условия. </a:t>
            </a:r>
            <a:br>
              <a:rPr lang="ru" sz="1300"/>
            </a:br>
            <a:br>
              <a:rPr lang="ru" sz="1300"/>
            </a:br>
            <a:r>
              <a:rPr lang="ru" sz="1300"/>
              <a:t>Способ 2 – используем continue. Мы проходим по всем числам от 1 до 20, и если число четное (проверка `i % 2 == 0` – остаток от деления на 2 равен 0), мы пропускаем это число с помощью continue. Нечетные числа выводятся. </a:t>
            </a:r>
            <a:br>
              <a:rPr lang="ru" sz="1300"/>
            </a:br>
            <a:br>
              <a:rPr lang="ru" sz="1300"/>
            </a:br>
            <a:r>
              <a:rPr lang="ru" sz="1300"/>
              <a:t>Способ 3 – самый простой для понимания. Если число нечетное (`i % 2 != 0`), выводим его. Остальные числа просто не выводятся, потому что условие не выполняется. </a:t>
            </a:r>
            <a:br>
              <a:rPr lang="ru" sz="1300"/>
            </a:br>
            <a:r>
              <a:rPr lang="ru" sz="1300"/>
              <a:t>Все три способа дают один результат, но выбирать способ нужно исходя из ситуации и для оптимизации кода (ПК 1.5)."</a:t>
            </a:r>
            <a:br>
              <a:rPr lang="ru" sz="1300"/>
            </a:br>
            <a:br>
              <a:rPr lang="ru" sz="1300"/>
            </a:br>
            <a:r>
              <a:rPr lang="ru" sz="1300"/>
              <a:t>- Способ 1 – самый эффективный (меньше операций) - Способ 2 – показывает использование continue - Способ 3 – самый понятный </a:t>
            </a:r>
            <a:endParaRPr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b983defca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b983defca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b983defca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b983defc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"Вот ошибки, которые делают все новички. Надеюсь, вы на них не попадетесь. </a:t>
            </a:r>
            <a:endParaRPr sz="1300"/>
          </a:p>
          <a:p>
            <a:pPr indent="0" lvl="0" marL="0" rtl="0" algn="l">
              <a:spcBef>
                <a:spcPts val="0"/>
              </a:spcBef>
              <a:spcAft>
                <a:spcPts val="0"/>
              </a:spcAft>
              <a:buNone/>
            </a:pPr>
            <a:r>
              <a:rPr lang="ru" sz="1300"/>
              <a:t>Ошибка 1 – забывают двоеточие. Python требует двоеточия после условия цикла. Это знак, что дальше идет блок кода. Если забыли – SyntaxError. </a:t>
            </a:r>
            <a:endParaRPr sz="1300"/>
          </a:p>
          <a:p>
            <a:pPr indent="0" lvl="0" marL="0" rtl="0" algn="l">
              <a:spcBef>
                <a:spcPts val="0"/>
              </a:spcBef>
              <a:spcAft>
                <a:spcPts val="0"/>
              </a:spcAft>
              <a:buNone/>
            </a:pPr>
            <a:r>
              <a:rPr lang="ru" sz="1300"/>
              <a:t>Ошибка 2 – неправильный отступ. Python очень чувствителен к отступам. Тело цикла ДОЛЖНО быть с отступом. Когда вы заканчиваете писать тело цикла, возвращаете курсор к левому краю – это конец цикла. </a:t>
            </a:r>
            <a:endParaRPr sz="1300"/>
          </a:p>
          <a:p>
            <a:pPr indent="0" lvl="0" marL="0" rtl="0" algn="l">
              <a:spcBef>
                <a:spcPts val="0"/>
              </a:spcBef>
              <a:spcAft>
                <a:spcPts val="0"/>
              </a:spcAft>
              <a:buNone/>
            </a:pPr>
            <a:r>
              <a:rPr lang="ru" sz="1300"/>
              <a:t>Ошибка 3 – off-by-one, самая коварная ошибка. range(5) дает 0, 1, 2, 3, 4. Никогда не забывайте: конечное значение не включается! Если вам нужны числа 1-5, пишите range(1, 6), а не range(1, 5). </a:t>
            </a:r>
            <a:endParaRPr sz="1300"/>
          </a:p>
          <a:p>
            <a:pPr indent="0" lvl="0" marL="0" rtl="0" algn="l">
              <a:spcBef>
                <a:spcPts val="0"/>
              </a:spcBef>
              <a:spcAft>
                <a:spcPts val="0"/>
              </a:spcAft>
              <a:buNone/>
            </a:pPr>
            <a:r>
              <a:t/>
            </a:r>
            <a:endParaRPr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b983defca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b983defca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t>Ошибка 4 – люди пишут условия, которые всегда верны. 'if i &lt; 6' внутри цикла `for i in range(1, 6)` – это избыточно, потому что i никогда не будет равно 6. </a:t>
            </a:r>
            <a:endParaRPr sz="1300"/>
          </a:p>
          <a:p>
            <a:pPr indent="0" lvl="0" marL="0" rtl="0" algn="l">
              <a:spcBef>
                <a:spcPts val="0"/>
              </a:spcBef>
              <a:spcAft>
                <a:spcPts val="0"/>
              </a:spcAft>
              <a:buNone/>
            </a:pPr>
            <a:r>
              <a:rPr lang="ru" sz="1300"/>
              <a:t>Ошибка 5 – используют счетчик после цикла. После цикла `for i in range(5)` переменная i существует и имеет значение 4 (последнее значение цикла), а не 5.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ru" sz="1300"/>
              <a:t>Помните об этом! Все эти ошибки влияют на правильность алгоритма (ПК 1.1, ПК 1.2). На тестировании (ПК 1.4) такие ошибки должны быть обнаружены и исправлены."</a:t>
            </a:r>
            <a:endParaRPr sz="13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b983defc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b983defc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ab983defca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ab983defca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AutoNum type="arabicPeriod"/>
            </a:pPr>
            <a:r>
              <a:rPr lang="ru" sz="1200">
                <a:solidFill>
                  <a:schemeClr val="dk1"/>
                </a:solidFill>
                <a:latin typeface="Roboto"/>
                <a:ea typeface="Roboto"/>
                <a:cs typeface="Roboto"/>
                <a:sym typeface="Roboto"/>
              </a:rPr>
              <a:t>Что такое цикл с параметром?</a:t>
            </a: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Алгоритм, где количество повторений заранее известно и управляется счётчиком (параметром цикла </a:t>
            </a:r>
            <a:r>
              <a:rPr lang="ru" sz="1050">
                <a:solidFill>
                  <a:srgbClr val="188038"/>
                </a:solidFill>
                <a:latin typeface="Courier New"/>
                <a:ea typeface="Courier New"/>
                <a:cs typeface="Courier New"/>
                <a:sym typeface="Courier New"/>
              </a:rPr>
              <a:t>for</a:t>
            </a:r>
            <a:r>
              <a:rPr lang="ru"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ru" sz="1200">
                <a:solidFill>
                  <a:schemeClr val="dk1"/>
                </a:solidFill>
                <a:latin typeface="Roboto"/>
                <a:ea typeface="Roboto"/>
                <a:cs typeface="Roboto"/>
                <a:sym typeface="Roboto"/>
              </a:rPr>
              <a:t>Компоненты циклического алгоритма?</a:t>
            </a: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Инициализация, тело цикла, изменение счётчика, условие завершения цикла.​</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ru" sz="1200">
                <a:solidFill>
                  <a:schemeClr val="dk1"/>
                </a:solidFill>
                <a:latin typeface="Roboto"/>
                <a:ea typeface="Roboto"/>
                <a:cs typeface="Roboto"/>
                <a:sym typeface="Roboto"/>
              </a:rPr>
              <a:t>Почему </a:t>
            </a:r>
            <a:r>
              <a:rPr lang="ru" sz="1050">
                <a:solidFill>
                  <a:srgbClr val="188038"/>
                </a:solidFill>
                <a:latin typeface="Courier New"/>
                <a:ea typeface="Courier New"/>
                <a:cs typeface="Courier New"/>
                <a:sym typeface="Courier New"/>
              </a:rPr>
              <a:t>range()</a:t>
            </a:r>
            <a:r>
              <a:rPr lang="ru" sz="1200">
                <a:solidFill>
                  <a:schemeClr val="dk1"/>
                </a:solidFill>
                <a:latin typeface="Roboto"/>
                <a:ea typeface="Roboto"/>
                <a:cs typeface="Roboto"/>
                <a:sym typeface="Roboto"/>
              </a:rPr>
              <a:t> не включает конечное значение?</a:t>
            </a: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Потому что </a:t>
            </a:r>
            <a:r>
              <a:rPr lang="ru" sz="1050">
                <a:solidFill>
                  <a:srgbClr val="188038"/>
                </a:solidFill>
                <a:latin typeface="Courier New"/>
                <a:ea typeface="Courier New"/>
                <a:cs typeface="Courier New"/>
                <a:sym typeface="Courier New"/>
              </a:rPr>
              <a:t>range(n, m)</a:t>
            </a:r>
            <a:r>
              <a:rPr lang="ru" sz="1200">
                <a:solidFill>
                  <a:schemeClr val="dk1"/>
                </a:solidFill>
                <a:latin typeface="Roboto"/>
                <a:ea typeface="Roboto"/>
                <a:cs typeface="Roboto"/>
                <a:sym typeface="Roboto"/>
              </a:rPr>
              <a:t> генерирует числа до </a:t>
            </a:r>
            <a:r>
              <a:rPr lang="ru" sz="1050">
                <a:solidFill>
                  <a:srgbClr val="188038"/>
                </a:solidFill>
                <a:latin typeface="Courier New"/>
                <a:ea typeface="Courier New"/>
                <a:cs typeface="Courier New"/>
                <a:sym typeface="Courier New"/>
              </a:rPr>
              <a:t>m-1</a:t>
            </a:r>
            <a:r>
              <a:rPr lang="ru" sz="1200">
                <a:solidFill>
                  <a:schemeClr val="dk1"/>
                </a:solidFill>
                <a:latin typeface="Roboto"/>
                <a:ea typeface="Roboto"/>
                <a:cs typeface="Roboto"/>
                <a:sym typeface="Roboto"/>
              </a:rPr>
              <a:t>; это важно, чтобы правильно считать количество итераций и не выходить за границы.​</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ru" sz="1200">
                <a:solidFill>
                  <a:schemeClr val="dk1"/>
                </a:solidFill>
                <a:latin typeface="Roboto"/>
                <a:ea typeface="Roboto"/>
                <a:cs typeface="Roboto"/>
                <a:sym typeface="Roboto"/>
              </a:rPr>
              <a:t>Что такое счётчик цикла?</a:t>
            </a:r>
            <a:br>
              <a:rPr lang="ru" sz="1200">
                <a:solidFill>
                  <a:schemeClr val="dk1"/>
                </a:solidFill>
                <a:latin typeface="Roboto"/>
                <a:ea typeface="Roboto"/>
                <a:cs typeface="Roboto"/>
                <a:sym typeface="Roboto"/>
              </a:rPr>
            </a:br>
            <a:r>
              <a:rPr lang="ru" sz="1200">
                <a:solidFill>
                  <a:schemeClr val="dk1"/>
                </a:solidFill>
                <a:latin typeface="Roboto"/>
                <a:ea typeface="Roboto"/>
                <a:cs typeface="Roboto"/>
                <a:sym typeface="Roboto"/>
              </a:rPr>
              <a:t>Переменная (</a:t>
            </a:r>
            <a:r>
              <a:rPr lang="ru" sz="1050">
                <a:solidFill>
                  <a:srgbClr val="188038"/>
                </a:solidFill>
                <a:latin typeface="Courier New"/>
                <a:ea typeface="Courier New"/>
                <a:cs typeface="Courier New"/>
                <a:sym typeface="Courier New"/>
              </a:rPr>
              <a:t>i</a:t>
            </a:r>
            <a:r>
              <a:rPr lang="ru" sz="1200">
                <a:solidFill>
                  <a:schemeClr val="dk1"/>
                </a:solidFill>
                <a:latin typeface="Roboto"/>
                <a:ea typeface="Roboto"/>
                <a:cs typeface="Roboto"/>
                <a:sym typeface="Roboto"/>
              </a:rPr>
              <a:t>, </a:t>
            </a:r>
            <a:r>
              <a:rPr lang="ru" sz="1050">
                <a:solidFill>
                  <a:srgbClr val="188038"/>
                </a:solidFill>
                <a:latin typeface="Courier New"/>
                <a:ea typeface="Courier New"/>
                <a:cs typeface="Courier New"/>
                <a:sym typeface="Courier New"/>
              </a:rPr>
              <a:t>j</a:t>
            </a:r>
            <a:r>
              <a:rPr lang="ru" sz="1200">
                <a:solidFill>
                  <a:schemeClr val="dk1"/>
                </a:solidFill>
                <a:latin typeface="Roboto"/>
                <a:ea typeface="Roboto"/>
                <a:cs typeface="Roboto"/>
                <a:sym typeface="Roboto"/>
              </a:rPr>
              <a:t>, </a:t>
            </a:r>
            <a:r>
              <a:rPr lang="ru" sz="1050">
                <a:solidFill>
                  <a:srgbClr val="188038"/>
                </a:solidFill>
                <a:latin typeface="Courier New"/>
                <a:ea typeface="Courier New"/>
                <a:cs typeface="Courier New"/>
                <a:sym typeface="Courier New"/>
              </a:rPr>
              <a:t>k</a:t>
            </a:r>
            <a:r>
              <a:rPr lang="ru" sz="1200">
                <a:solidFill>
                  <a:schemeClr val="dk1"/>
                </a:solidFill>
                <a:latin typeface="Roboto"/>
                <a:ea typeface="Roboto"/>
                <a:cs typeface="Roboto"/>
                <a:sym typeface="Roboto"/>
              </a:rPr>
              <a:t> или </a:t>
            </a:r>
            <a:r>
              <a:rPr lang="ru" sz="1050">
                <a:solidFill>
                  <a:srgbClr val="188038"/>
                </a:solidFill>
                <a:latin typeface="Courier New"/>
                <a:ea typeface="Courier New"/>
                <a:cs typeface="Courier New"/>
                <a:sym typeface="Courier New"/>
              </a:rPr>
              <a:t>_</a:t>
            </a:r>
            <a:r>
              <a:rPr lang="ru" sz="1200">
                <a:solidFill>
                  <a:schemeClr val="dk1"/>
                </a:solidFill>
                <a:latin typeface="Roboto"/>
                <a:ea typeface="Roboto"/>
                <a:cs typeface="Roboto"/>
                <a:sym typeface="Roboto"/>
              </a:rPr>
              <a:t>), которая меняется при каждой итерации и задаёт номер шага или индекс элемента.​</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ru" sz="1200">
                <a:solidFill>
                  <a:schemeClr val="dk1"/>
                </a:solidFill>
                <a:latin typeface="Roboto"/>
                <a:ea typeface="Roboto"/>
                <a:cs typeface="Roboto"/>
                <a:sym typeface="Roboto"/>
              </a:rPr>
              <a:t>Разница между </a:t>
            </a:r>
            <a:r>
              <a:rPr lang="ru" sz="1050">
                <a:solidFill>
                  <a:srgbClr val="188038"/>
                </a:solidFill>
                <a:latin typeface="Courier New"/>
                <a:ea typeface="Courier New"/>
                <a:cs typeface="Courier New"/>
                <a:sym typeface="Courier New"/>
              </a:rPr>
              <a:t>break</a:t>
            </a:r>
            <a:r>
              <a:rPr lang="ru" sz="1200">
                <a:solidFill>
                  <a:schemeClr val="dk1"/>
                </a:solidFill>
                <a:latin typeface="Roboto"/>
                <a:ea typeface="Roboto"/>
                <a:cs typeface="Roboto"/>
                <a:sym typeface="Roboto"/>
              </a:rPr>
              <a:t> и </a:t>
            </a:r>
            <a:r>
              <a:rPr lang="ru" sz="1050">
                <a:solidFill>
                  <a:srgbClr val="188038"/>
                </a:solidFill>
                <a:latin typeface="Courier New"/>
                <a:ea typeface="Courier New"/>
                <a:cs typeface="Courier New"/>
                <a:sym typeface="Courier New"/>
              </a:rPr>
              <a:t>continue</a:t>
            </a:r>
            <a:r>
              <a:rPr lang="ru" sz="1200">
                <a:solidFill>
                  <a:schemeClr val="dk1"/>
                </a:solidFill>
                <a:latin typeface="Roboto"/>
                <a:ea typeface="Roboto"/>
                <a:cs typeface="Roboto"/>
                <a:sym typeface="Roboto"/>
              </a:rPr>
              <a:t>?</a:t>
            </a:r>
            <a:br>
              <a:rPr lang="ru" sz="1200">
                <a:solidFill>
                  <a:schemeClr val="dk1"/>
                </a:solidFill>
                <a:latin typeface="Roboto"/>
                <a:ea typeface="Roboto"/>
                <a:cs typeface="Roboto"/>
                <a:sym typeface="Roboto"/>
              </a:rPr>
            </a:br>
            <a:r>
              <a:rPr lang="ru" sz="1050">
                <a:solidFill>
                  <a:srgbClr val="188038"/>
                </a:solidFill>
                <a:latin typeface="Courier New"/>
                <a:ea typeface="Courier New"/>
                <a:cs typeface="Courier New"/>
                <a:sym typeface="Courier New"/>
              </a:rPr>
              <a:t>break</a:t>
            </a:r>
            <a:r>
              <a:rPr lang="ru" sz="1200">
                <a:solidFill>
                  <a:schemeClr val="dk1"/>
                </a:solidFill>
                <a:latin typeface="Roboto"/>
                <a:ea typeface="Roboto"/>
                <a:cs typeface="Roboto"/>
                <a:sym typeface="Roboto"/>
              </a:rPr>
              <a:t> полностью прерывает цикл, </a:t>
            </a:r>
            <a:r>
              <a:rPr lang="ru" sz="1050">
                <a:solidFill>
                  <a:srgbClr val="188038"/>
                </a:solidFill>
                <a:latin typeface="Courier New"/>
                <a:ea typeface="Courier New"/>
                <a:cs typeface="Courier New"/>
                <a:sym typeface="Courier New"/>
              </a:rPr>
              <a:t>continue</a:t>
            </a:r>
            <a:r>
              <a:rPr lang="ru" sz="1200">
                <a:solidFill>
                  <a:schemeClr val="dk1"/>
                </a:solidFill>
                <a:latin typeface="Roboto"/>
                <a:ea typeface="Roboto"/>
                <a:cs typeface="Roboto"/>
                <a:sym typeface="Roboto"/>
              </a:rPr>
              <a:t> пропускает остаток текущей итерации и переходит к следующей.​</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b983defca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b983defc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90015161b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a90015161b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13.png"/><Relationship Id="rId6"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6.png"/><Relationship Id="rId5" Type="http://schemas.openxmlformats.org/officeDocument/2006/relationships/image" Target="../media/image34.png"/><Relationship Id="rId6" Type="http://schemas.openxmlformats.org/officeDocument/2006/relationships/image" Target="../media/image41.png"/><Relationship Id="rId7"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40.png"/><Relationship Id="rId5"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image" Target="../media/image44.png"/><Relationship Id="rId5" Type="http://schemas.openxmlformats.org/officeDocument/2006/relationships/image" Target="../media/image46.png"/><Relationship Id="rId6"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pythontutor.com/python-debugger.html" TargetMode="Externa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50" y="734625"/>
            <a:ext cx="9144000" cy="86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1100"/>
              <a:buNone/>
            </a:pPr>
            <a:r>
              <a:rPr lang="ru" sz="2400"/>
              <a:t>Оператор арифметического цикла. Цикл с параметром.</a:t>
            </a:r>
            <a:r>
              <a:rPr lang="ru" sz="3000"/>
              <a:t> </a:t>
            </a:r>
            <a:endParaRPr sz="3000"/>
          </a:p>
          <a:p>
            <a:pPr indent="0" lvl="0" marL="0" rtl="0" algn="ctr">
              <a:spcBef>
                <a:spcPts val="0"/>
              </a:spcBef>
              <a:spcAft>
                <a:spcPts val="0"/>
              </a:spcAft>
              <a:buSzPts val="1100"/>
              <a:buNone/>
            </a:pPr>
            <a:r>
              <a:rPr lang="ru" sz="1400"/>
              <a:t>Счетчик цикла. Базовые алгоритмы цикла с параметром</a:t>
            </a:r>
            <a:endParaRPr sz="500"/>
          </a:p>
        </p:txBody>
      </p:sp>
      <p:sp>
        <p:nvSpPr>
          <p:cNvPr id="55" name="Google Shape;55;p13"/>
          <p:cNvSpPr txBox="1"/>
          <p:nvPr>
            <p:ph idx="1" type="subTitle"/>
          </p:nvPr>
        </p:nvSpPr>
        <p:spPr>
          <a:xfrm>
            <a:off x="0" y="79500"/>
            <a:ext cx="9144000" cy="538800"/>
          </a:xfrm>
          <a:prstGeom prst="rect">
            <a:avLst/>
          </a:prstGeom>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1018"/>
              <a:buNone/>
            </a:pPr>
            <a:r>
              <a:rPr lang="ru" sz="2090">
                <a:solidFill>
                  <a:srgbClr val="CCCCCC"/>
                </a:solidFill>
              </a:rPr>
              <a:t>ОП.04 Основы алгоритмизации и программирования</a:t>
            </a:r>
            <a:endParaRPr sz="2090">
              <a:solidFill>
                <a:srgbClr val="CCCCCC"/>
              </a:solidFill>
            </a:endParaRPr>
          </a:p>
        </p:txBody>
      </p:sp>
      <p:pic>
        <p:nvPicPr>
          <p:cNvPr id="56" name="Google Shape;56;p13"/>
          <p:cNvPicPr preferRelativeResize="0"/>
          <p:nvPr/>
        </p:nvPicPr>
        <p:blipFill>
          <a:blip r:embed="rId3">
            <a:alphaModFix/>
          </a:blip>
          <a:stretch>
            <a:fillRect/>
          </a:stretch>
        </p:blipFill>
        <p:spPr>
          <a:xfrm>
            <a:off x="1257400" y="1604325"/>
            <a:ext cx="6535448" cy="3539175"/>
          </a:xfrm>
          <a:prstGeom prst="rect">
            <a:avLst/>
          </a:prstGeom>
          <a:noFill/>
          <a:ln>
            <a:noFill/>
          </a:ln>
        </p:spPr>
      </p:pic>
      <p:sp>
        <p:nvSpPr>
          <p:cNvPr id="57" name="Google Shape;57;p13"/>
          <p:cNvSpPr/>
          <p:nvPr/>
        </p:nvSpPr>
        <p:spPr>
          <a:xfrm>
            <a:off x="3447375" y="2988125"/>
            <a:ext cx="2155500" cy="667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3"/>
          <p:cNvSpPr txBox="1"/>
          <p:nvPr/>
        </p:nvSpPr>
        <p:spPr>
          <a:xfrm>
            <a:off x="3349425" y="2957525"/>
            <a:ext cx="2351400" cy="63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u" sz="1800">
                <a:solidFill>
                  <a:schemeClr val="dk1"/>
                </a:solidFill>
                <a:latin typeface="Montserrat Medium"/>
                <a:ea typeface="Montserrat Medium"/>
                <a:cs typeface="Montserrat Medium"/>
                <a:sym typeface="Montserrat Medium"/>
              </a:rPr>
              <a:t>И СНОВА “ДОБРОЕ УТРО”</a:t>
            </a:r>
            <a:endParaRPr sz="18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Цель урока</a:t>
            </a:r>
            <a:endParaRPr sz="2500"/>
          </a:p>
        </p:txBody>
      </p:sp>
      <p:sp>
        <p:nvSpPr>
          <p:cNvPr id="64" name="Google Shape;64;p14"/>
          <p:cNvSpPr txBox="1"/>
          <p:nvPr>
            <p:ph idx="1" type="body"/>
          </p:nvPr>
        </p:nvSpPr>
        <p:spPr>
          <a:xfrm>
            <a:off x="184675" y="2648625"/>
            <a:ext cx="5583300" cy="1315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Light"/>
              <a:buChar char="●"/>
            </a:pPr>
            <a:r>
              <a:rPr lang="ru" sz="1200">
                <a:solidFill>
                  <a:schemeClr val="dk1"/>
                </a:solidFill>
                <a:latin typeface="Roboto Light"/>
                <a:ea typeface="Roboto Light"/>
                <a:cs typeface="Roboto Light"/>
                <a:sym typeface="Roboto Light"/>
              </a:rPr>
              <a:t>Понять необходимость использования циклов для сокращения кода и соблюдения принципа DRY (Don't Repeat Yourself).</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Char char="●"/>
            </a:pPr>
            <a:r>
              <a:rPr lang="ru" sz="1200">
                <a:solidFill>
                  <a:schemeClr val="dk1"/>
                </a:solidFill>
                <a:latin typeface="Roboto Light"/>
                <a:ea typeface="Roboto Light"/>
                <a:cs typeface="Roboto Light"/>
                <a:sym typeface="Roboto Light"/>
              </a:rPr>
              <a:t>Изучить синтаксис оператора for и принципы работы функции range()</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Char char="●"/>
            </a:pPr>
            <a:r>
              <a:rPr lang="ru" sz="1200">
                <a:solidFill>
                  <a:schemeClr val="dk1"/>
                </a:solidFill>
                <a:latin typeface="Roboto Light"/>
                <a:ea typeface="Roboto Light"/>
                <a:cs typeface="Roboto Light"/>
                <a:sym typeface="Roboto Light"/>
              </a:rPr>
              <a:t>Освоить три базовых алгоритмических паттерна</a:t>
            </a:r>
            <a:endParaRPr sz="1200">
              <a:solidFill>
                <a:schemeClr val="dk1"/>
              </a:solidFill>
              <a:latin typeface="Roboto Light"/>
              <a:ea typeface="Roboto Light"/>
              <a:cs typeface="Roboto Light"/>
              <a:sym typeface="Roboto Light"/>
            </a:endParaRPr>
          </a:p>
          <a:p>
            <a:pPr indent="0" lvl="0" marL="457200" rtl="0" algn="l">
              <a:spcBef>
                <a:spcPts val="0"/>
              </a:spcBef>
              <a:spcAft>
                <a:spcPts val="0"/>
              </a:spcAft>
              <a:buNone/>
            </a:pPr>
            <a:r>
              <a:t/>
            </a:r>
            <a:endParaRPr sz="1200">
              <a:solidFill>
                <a:schemeClr val="dk1"/>
              </a:solidFill>
              <a:latin typeface="Roboto Light"/>
              <a:ea typeface="Roboto Light"/>
              <a:cs typeface="Roboto Light"/>
              <a:sym typeface="Roboto Light"/>
            </a:endParaRPr>
          </a:p>
        </p:txBody>
      </p:sp>
      <p:sp>
        <p:nvSpPr>
          <p:cNvPr id="65" name="Google Shape;65;p14"/>
          <p:cNvSpPr txBox="1"/>
          <p:nvPr/>
        </p:nvSpPr>
        <p:spPr>
          <a:xfrm>
            <a:off x="311700" y="1017725"/>
            <a:ext cx="550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200">
                <a:solidFill>
                  <a:schemeClr val="dk1"/>
                </a:solidFill>
                <a:latin typeface="Roboto Light"/>
                <a:ea typeface="Roboto Light"/>
                <a:cs typeface="Roboto Light"/>
                <a:sym typeface="Roboto Light"/>
              </a:rPr>
              <a:t>Сформировать у студентов навык программной реализации повторяющихся действий </a:t>
            </a:r>
            <a:r>
              <a:rPr lang="ru" sz="1200">
                <a:solidFill>
                  <a:schemeClr val="dk1"/>
                </a:solidFill>
                <a:latin typeface="Roboto"/>
                <a:ea typeface="Roboto"/>
                <a:cs typeface="Roboto"/>
                <a:sym typeface="Roboto"/>
              </a:rPr>
              <a:t>с известным числом</a:t>
            </a:r>
            <a:r>
              <a:rPr lang="ru" sz="1200">
                <a:solidFill>
                  <a:schemeClr val="dk1"/>
                </a:solidFill>
                <a:latin typeface="Roboto Light"/>
                <a:ea typeface="Roboto Light"/>
                <a:cs typeface="Roboto Light"/>
                <a:sym typeface="Roboto Light"/>
              </a:rPr>
              <a:t> повторений, используя </a:t>
            </a:r>
            <a:r>
              <a:rPr lang="ru" sz="1200">
                <a:solidFill>
                  <a:schemeClr val="dk1"/>
                </a:solidFill>
                <a:latin typeface="Roboto"/>
                <a:ea typeface="Roboto"/>
                <a:cs typeface="Roboto"/>
                <a:sym typeface="Roboto"/>
              </a:rPr>
              <a:t>конструкцию цикла for и функцию range().</a:t>
            </a:r>
            <a:endParaRPr>
              <a:latin typeface="Roboto"/>
              <a:ea typeface="Roboto"/>
              <a:cs typeface="Roboto"/>
              <a:sym typeface="Roboto"/>
            </a:endParaRPr>
          </a:p>
        </p:txBody>
      </p:sp>
      <p:sp>
        <p:nvSpPr>
          <p:cNvPr id="66" name="Google Shape;66;p14"/>
          <p:cNvSpPr txBox="1"/>
          <p:nvPr>
            <p:ph type="title"/>
          </p:nvPr>
        </p:nvSpPr>
        <p:spPr>
          <a:xfrm>
            <a:off x="309120" y="19990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Задачи</a:t>
            </a:r>
            <a:r>
              <a:rPr lang="ru" sz="2500">
                <a:latin typeface="Century Gothic"/>
                <a:ea typeface="Century Gothic"/>
                <a:cs typeface="Century Gothic"/>
                <a:sym typeface="Century Gothic"/>
              </a:rPr>
              <a:t> урока</a:t>
            </a:r>
            <a:endParaRPr sz="2500"/>
          </a:p>
        </p:txBody>
      </p:sp>
      <p:pic>
        <p:nvPicPr>
          <p:cNvPr id="67" name="Google Shape;67;p14"/>
          <p:cNvPicPr preferRelativeResize="0"/>
          <p:nvPr/>
        </p:nvPicPr>
        <p:blipFill>
          <a:blip r:embed="rId3">
            <a:alphaModFix/>
          </a:blip>
          <a:stretch>
            <a:fillRect/>
          </a:stretch>
        </p:blipFill>
        <p:spPr>
          <a:xfrm>
            <a:off x="5607000" y="1243375"/>
            <a:ext cx="3225299" cy="32252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Циклические алгоритмы</a:t>
            </a:r>
            <a:endParaRPr sz="2500"/>
          </a:p>
        </p:txBody>
      </p:sp>
      <p:sp>
        <p:nvSpPr>
          <p:cNvPr id="73" name="Google Shape;73;p15"/>
          <p:cNvSpPr txBox="1"/>
          <p:nvPr>
            <p:ph idx="1" type="body"/>
          </p:nvPr>
        </p:nvSpPr>
        <p:spPr>
          <a:xfrm>
            <a:off x="334762" y="1984263"/>
            <a:ext cx="4321800" cy="1243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ru" sz="1200">
                <a:solidFill>
                  <a:schemeClr val="dk1"/>
                </a:solidFill>
                <a:highlight>
                  <a:srgbClr val="FFFFFF"/>
                </a:highlight>
                <a:latin typeface="Roboto"/>
                <a:ea typeface="Roboto"/>
                <a:cs typeface="Roboto"/>
                <a:sym typeface="Roboto"/>
              </a:rPr>
              <a:t>Типы циклических алгоритмов:</a:t>
            </a:r>
            <a:endParaRPr sz="1200">
              <a:solidFill>
                <a:schemeClr val="dk1"/>
              </a:solidFill>
              <a:highlight>
                <a:srgbClr val="FFFFFF"/>
              </a:highlight>
              <a:latin typeface="Roboto"/>
              <a:ea typeface="Roboto"/>
              <a:cs typeface="Roboto"/>
              <a:sym typeface="Roboto"/>
            </a:endParaRPr>
          </a:p>
          <a:p>
            <a:pPr indent="-209550" lvl="0" marL="225000" rtl="0" algn="just">
              <a:spcBef>
                <a:spcPts val="1200"/>
              </a:spcBef>
              <a:spcAft>
                <a:spcPts val="0"/>
              </a:spcAft>
              <a:buClr>
                <a:schemeClr val="dk1"/>
              </a:buClr>
              <a:buSzPts val="1200"/>
              <a:buFont typeface="Roboto Light"/>
              <a:buChar char="●"/>
            </a:pPr>
            <a:r>
              <a:rPr lang="ru" sz="1200">
                <a:solidFill>
                  <a:schemeClr val="dk1"/>
                </a:solidFill>
                <a:highlight>
                  <a:srgbClr val="FFFFFF"/>
                </a:highlight>
                <a:latin typeface="Roboto Light"/>
                <a:ea typeface="Roboto Light"/>
                <a:cs typeface="Roboto Light"/>
                <a:sym typeface="Roboto Light"/>
              </a:rPr>
              <a:t>цикл с параметром (for)</a:t>
            </a:r>
            <a:endParaRPr sz="1200">
              <a:solidFill>
                <a:schemeClr val="dk1"/>
              </a:solidFill>
              <a:highlight>
                <a:srgbClr val="FFFFFF"/>
              </a:highlight>
              <a:latin typeface="Roboto Light"/>
              <a:ea typeface="Roboto Light"/>
              <a:cs typeface="Roboto Light"/>
              <a:sym typeface="Roboto Light"/>
            </a:endParaRPr>
          </a:p>
          <a:p>
            <a:pPr indent="-209550" lvl="0" marL="225000" rtl="0" algn="just">
              <a:spcBef>
                <a:spcPts val="0"/>
              </a:spcBef>
              <a:spcAft>
                <a:spcPts val="0"/>
              </a:spcAft>
              <a:buClr>
                <a:schemeClr val="dk1"/>
              </a:buClr>
              <a:buSzPts val="1200"/>
              <a:buFont typeface="Roboto Light"/>
              <a:buChar char="●"/>
            </a:pPr>
            <a:r>
              <a:rPr lang="ru" sz="1200">
                <a:solidFill>
                  <a:schemeClr val="dk1"/>
                </a:solidFill>
                <a:highlight>
                  <a:srgbClr val="FFFFFF"/>
                </a:highlight>
                <a:latin typeface="Roboto Light"/>
                <a:ea typeface="Roboto Light"/>
                <a:cs typeface="Roboto Light"/>
                <a:sym typeface="Roboto Light"/>
              </a:rPr>
              <a:t>цикл с предусловием (while)</a:t>
            </a:r>
            <a:endParaRPr sz="1200">
              <a:solidFill>
                <a:schemeClr val="dk1"/>
              </a:solidFill>
              <a:highlight>
                <a:srgbClr val="FFFFFF"/>
              </a:highlight>
              <a:latin typeface="Roboto Light"/>
              <a:ea typeface="Roboto Light"/>
              <a:cs typeface="Roboto Light"/>
              <a:sym typeface="Roboto Light"/>
            </a:endParaRPr>
          </a:p>
          <a:p>
            <a:pPr indent="-209550" lvl="0" marL="225000" rtl="0" algn="just">
              <a:spcBef>
                <a:spcPts val="0"/>
              </a:spcBef>
              <a:spcAft>
                <a:spcPts val="0"/>
              </a:spcAft>
              <a:buClr>
                <a:schemeClr val="dk1"/>
              </a:buClr>
              <a:buSzPts val="1200"/>
              <a:buFont typeface="Roboto Light"/>
              <a:buChar char="●"/>
            </a:pPr>
            <a:r>
              <a:rPr lang="ru" sz="1200">
                <a:solidFill>
                  <a:schemeClr val="dk1"/>
                </a:solidFill>
                <a:highlight>
                  <a:srgbClr val="FFFFFF"/>
                </a:highlight>
                <a:latin typeface="Roboto Light"/>
                <a:ea typeface="Roboto Light"/>
                <a:cs typeface="Roboto Light"/>
                <a:sym typeface="Roboto Light"/>
              </a:rPr>
              <a:t>цикл с постусловием (do-while</a:t>
            </a:r>
            <a:r>
              <a:rPr lang="ru" sz="1200">
                <a:solidFill>
                  <a:schemeClr val="dk1"/>
                </a:solidFill>
                <a:highlight>
                  <a:srgbClr val="FFFFFF"/>
                </a:highlight>
                <a:latin typeface="Roboto Light"/>
                <a:ea typeface="Roboto Light"/>
                <a:cs typeface="Roboto Light"/>
                <a:sym typeface="Roboto Light"/>
              </a:rPr>
              <a:t>)</a:t>
            </a:r>
            <a:endParaRPr sz="1200">
              <a:solidFill>
                <a:schemeClr val="dk1"/>
              </a:solidFill>
              <a:highlight>
                <a:srgbClr val="FFFFFF"/>
              </a:highlight>
              <a:latin typeface="Roboto Light"/>
              <a:ea typeface="Roboto Light"/>
              <a:cs typeface="Roboto Light"/>
              <a:sym typeface="Roboto Light"/>
            </a:endParaRPr>
          </a:p>
        </p:txBody>
      </p:sp>
      <p:sp>
        <p:nvSpPr>
          <p:cNvPr id="74" name="Google Shape;74;p15"/>
          <p:cNvSpPr txBox="1"/>
          <p:nvPr/>
        </p:nvSpPr>
        <p:spPr>
          <a:xfrm>
            <a:off x="323157" y="1141965"/>
            <a:ext cx="4809600" cy="81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solidFill>
                  <a:srgbClr val="000000"/>
                </a:solidFill>
                <a:highlight>
                  <a:srgbClr val="FFFFFF"/>
                </a:highlight>
                <a:latin typeface="Roboto"/>
                <a:ea typeface="Roboto"/>
                <a:cs typeface="Roboto"/>
                <a:sym typeface="Roboto"/>
              </a:rPr>
              <a:t>Циклический алгоритм</a:t>
            </a:r>
            <a:r>
              <a:rPr lang="ru" sz="1200">
                <a:solidFill>
                  <a:srgbClr val="000000"/>
                </a:solidFill>
                <a:highlight>
                  <a:srgbClr val="FFFFFF"/>
                </a:highlight>
                <a:latin typeface="Roboto Light"/>
                <a:ea typeface="Roboto Light"/>
                <a:cs typeface="Roboto Light"/>
                <a:sym typeface="Roboto Light"/>
              </a:rPr>
              <a:t> – это алгоритм, в котором одна или несколько операций повторяются несколько раз в зависимости от исходных данных или условия задачи.</a:t>
            </a:r>
            <a:endParaRPr>
              <a:solidFill>
                <a:srgbClr val="000000"/>
              </a:solidFill>
              <a:highlight>
                <a:srgbClr val="FFFFFF"/>
              </a:highlight>
              <a:latin typeface="Roboto Light"/>
              <a:ea typeface="Roboto Light"/>
              <a:cs typeface="Roboto Light"/>
              <a:sym typeface="Roboto Light"/>
            </a:endParaRPr>
          </a:p>
        </p:txBody>
      </p:sp>
      <p:pic>
        <p:nvPicPr>
          <p:cNvPr id="75" name="Google Shape;75;p15"/>
          <p:cNvPicPr preferRelativeResize="0"/>
          <p:nvPr/>
        </p:nvPicPr>
        <p:blipFill>
          <a:blip r:embed="rId3">
            <a:alphaModFix/>
          </a:blip>
          <a:stretch>
            <a:fillRect/>
          </a:stretch>
        </p:blipFill>
        <p:spPr>
          <a:xfrm>
            <a:off x="5285157" y="1170125"/>
            <a:ext cx="3706445" cy="3706445"/>
          </a:xfrm>
          <a:prstGeom prst="rect">
            <a:avLst/>
          </a:prstGeom>
          <a:noFill/>
          <a:ln>
            <a:noFill/>
          </a:ln>
        </p:spPr>
      </p:pic>
      <p:sp>
        <p:nvSpPr>
          <p:cNvPr id="76" name="Google Shape;76;p15"/>
          <p:cNvSpPr txBox="1"/>
          <p:nvPr>
            <p:ph idx="1" type="body"/>
          </p:nvPr>
        </p:nvSpPr>
        <p:spPr>
          <a:xfrm>
            <a:off x="334750" y="3255850"/>
            <a:ext cx="4633800" cy="1761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ru" sz="1200">
                <a:solidFill>
                  <a:schemeClr val="dk1"/>
                </a:solidFill>
                <a:highlight>
                  <a:srgbClr val="FFFFFF"/>
                </a:highlight>
                <a:latin typeface="Roboto"/>
                <a:ea typeface="Roboto"/>
                <a:cs typeface="Roboto"/>
                <a:sym typeface="Roboto"/>
              </a:rPr>
              <a:t>Примеры из жизни:</a:t>
            </a:r>
            <a:endParaRPr sz="1200">
              <a:solidFill>
                <a:schemeClr val="dk1"/>
              </a:solidFill>
              <a:highlight>
                <a:srgbClr val="FFFFFF"/>
              </a:highlight>
              <a:latin typeface="Roboto"/>
              <a:ea typeface="Roboto"/>
              <a:cs typeface="Roboto"/>
              <a:sym typeface="Roboto"/>
            </a:endParaRPr>
          </a:p>
          <a:p>
            <a:pPr indent="-209550" lvl="0" marL="225000" rtl="0" algn="just">
              <a:spcBef>
                <a:spcPts val="1200"/>
              </a:spcBef>
              <a:spcAft>
                <a:spcPts val="0"/>
              </a:spcAft>
              <a:buClr>
                <a:schemeClr val="dk1"/>
              </a:buClr>
              <a:buSzPts val="1200"/>
              <a:buFont typeface="Roboto Light"/>
              <a:buChar char="●"/>
            </a:pPr>
            <a:r>
              <a:rPr lang="ru" sz="1200">
                <a:solidFill>
                  <a:schemeClr val="dk1"/>
                </a:solidFill>
                <a:highlight>
                  <a:srgbClr val="FFFFFF"/>
                </a:highlight>
                <a:latin typeface="Roboto Light"/>
                <a:ea typeface="Roboto Light"/>
                <a:cs typeface="Roboto Light"/>
                <a:sym typeface="Roboto Light"/>
              </a:rPr>
              <a:t>Покраска забора. Для каждой доски повторяем одно и то же: взять кисть, набрать краску, покрасить доску.</a:t>
            </a:r>
            <a:endParaRPr sz="1200">
              <a:solidFill>
                <a:schemeClr val="dk1"/>
              </a:solidFill>
              <a:highlight>
                <a:srgbClr val="FFFFFF"/>
              </a:highlight>
              <a:latin typeface="Roboto Light"/>
              <a:ea typeface="Roboto Light"/>
              <a:cs typeface="Roboto Light"/>
              <a:sym typeface="Roboto Light"/>
            </a:endParaRPr>
          </a:p>
          <a:p>
            <a:pPr indent="-209550" lvl="0" marL="225000" rtl="0" algn="just">
              <a:spcBef>
                <a:spcPts val="0"/>
              </a:spcBef>
              <a:spcAft>
                <a:spcPts val="0"/>
              </a:spcAft>
              <a:buClr>
                <a:schemeClr val="dk1"/>
              </a:buClr>
              <a:buSzPts val="1200"/>
              <a:buFont typeface="Roboto Light"/>
              <a:buChar char="●"/>
            </a:pPr>
            <a:r>
              <a:rPr lang="ru" sz="1200">
                <a:solidFill>
                  <a:schemeClr val="dk1"/>
                </a:solidFill>
                <a:highlight>
                  <a:srgbClr val="FFFFFF"/>
                </a:highlight>
                <a:latin typeface="Roboto Light"/>
                <a:ea typeface="Roboto Light"/>
                <a:cs typeface="Roboto Light"/>
                <a:sym typeface="Roboto Light"/>
              </a:rPr>
              <a:t>П</a:t>
            </a:r>
            <a:r>
              <a:rPr lang="ru" sz="1200">
                <a:solidFill>
                  <a:schemeClr val="dk1"/>
                </a:solidFill>
                <a:highlight>
                  <a:srgbClr val="FFFFFF"/>
                </a:highlight>
                <a:latin typeface="Roboto Light"/>
                <a:ea typeface="Roboto Light"/>
                <a:cs typeface="Roboto Light"/>
                <a:sym typeface="Roboto Light"/>
              </a:rPr>
              <a:t>риём абитуриентов. Абитуриенты идут по очереди. Для каждого: взять документы, проверить их, поставить подпись или отказ.</a:t>
            </a:r>
            <a:endParaRPr sz="1200">
              <a:solidFill>
                <a:schemeClr val="dk1"/>
              </a:solidFill>
              <a:highlight>
                <a:srgbClr val="FFFFFF"/>
              </a:highlight>
              <a:latin typeface="Roboto Light"/>
              <a:ea typeface="Roboto Light"/>
              <a:cs typeface="Roboto Light"/>
              <a:sym typeface="Roboto Light"/>
            </a:endParaRPr>
          </a:p>
          <a:p>
            <a:pPr indent="-209550" lvl="0" marL="225000" rtl="0" algn="just">
              <a:spcBef>
                <a:spcPts val="0"/>
              </a:spcBef>
              <a:spcAft>
                <a:spcPts val="0"/>
              </a:spcAft>
              <a:buClr>
                <a:schemeClr val="dk1"/>
              </a:buClr>
              <a:buSzPts val="1200"/>
              <a:buFont typeface="Roboto Light"/>
              <a:buChar char="●"/>
            </a:pPr>
            <a:r>
              <a:rPr lang="ru" sz="1200">
                <a:solidFill>
                  <a:schemeClr val="dk1"/>
                </a:solidFill>
                <a:highlight>
                  <a:srgbClr val="FFFFFF"/>
                </a:highlight>
                <a:latin typeface="Roboto Light"/>
                <a:ea typeface="Roboto Light"/>
                <a:cs typeface="Roboto Light"/>
                <a:sym typeface="Roboto Light"/>
              </a:rPr>
              <a:t>Смена времен года.</a:t>
            </a:r>
            <a:endParaRPr sz="1200">
              <a:solidFill>
                <a:schemeClr val="dk1"/>
              </a:solidFill>
              <a:highlight>
                <a:srgbClr val="FFFFFF"/>
              </a:highlight>
              <a:latin typeface="Roboto Light"/>
              <a:ea typeface="Roboto Light"/>
              <a:cs typeface="Roboto Light"/>
              <a:sym typeface="Robo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Компоненты циклического алгоритма</a:t>
            </a:r>
            <a:endParaRPr sz="2500"/>
          </a:p>
        </p:txBody>
      </p:sp>
      <p:sp>
        <p:nvSpPr>
          <p:cNvPr id="82" name="Google Shape;82;p16"/>
          <p:cNvSpPr txBox="1"/>
          <p:nvPr/>
        </p:nvSpPr>
        <p:spPr>
          <a:xfrm>
            <a:off x="323150" y="1142000"/>
            <a:ext cx="4809600" cy="359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Каждый циклический алгоритм состоит из четырех частей:</a:t>
            </a:r>
            <a:endParaRPr sz="1200">
              <a:highlight>
                <a:srgbClr val="FFFFFF"/>
              </a:highlight>
              <a:latin typeface="Roboto"/>
              <a:ea typeface="Roboto"/>
              <a:cs typeface="Roboto"/>
              <a:sym typeface="Roboto"/>
            </a:endParaRPr>
          </a:p>
          <a:p>
            <a:pPr indent="-171450" lvl="0" marL="314999" rtl="0" algn="l">
              <a:lnSpc>
                <a:spcPct val="115000"/>
              </a:lnSpc>
              <a:spcBef>
                <a:spcPts val="1000"/>
              </a:spcBef>
              <a:spcAft>
                <a:spcPts val="0"/>
              </a:spcAft>
              <a:buClr>
                <a:srgbClr val="000000"/>
              </a:buClr>
              <a:buSzPts val="1200"/>
              <a:buFont typeface="Roboto"/>
              <a:buAutoNum type="arabicPeriod"/>
            </a:pPr>
            <a:r>
              <a:rPr lang="ru" sz="1200">
                <a:highlight>
                  <a:srgbClr val="FFFFFF"/>
                </a:highlight>
                <a:latin typeface="Roboto"/>
                <a:ea typeface="Roboto"/>
                <a:cs typeface="Roboto"/>
                <a:sym typeface="Roboto"/>
              </a:rPr>
              <a:t>Инициализация цикла</a:t>
            </a:r>
            <a:endParaRPr sz="1200">
              <a:highlight>
                <a:srgbClr val="FFFFFF"/>
              </a:highlight>
              <a:latin typeface="Roboto"/>
              <a:ea typeface="Roboto"/>
              <a:cs typeface="Roboto"/>
              <a:sym typeface="Roboto"/>
            </a:endParaRPr>
          </a:p>
          <a:p>
            <a:pPr indent="-171450" lvl="1" marL="540000" marR="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Задание исходных данных</a:t>
            </a:r>
            <a:endParaRPr sz="1200">
              <a:highlight>
                <a:srgbClr val="FFFFFF"/>
              </a:highlight>
              <a:latin typeface="Roboto Light"/>
              <a:ea typeface="Roboto Light"/>
              <a:cs typeface="Roboto Light"/>
              <a:sym typeface="Roboto Light"/>
            </a:endParaRPr>
          </a:p>
          <a:p>
            <a:pPr indent="-171450" lvl="1" marL="540000" marR="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Установка начального значения счетчика</a:t>
            </a:r>
            <a:endParaRPr sz="1200">
              <a:highlight>
                <a:srgbClr val="FFFFFF"/>
              </a:highlight>
              <a:latin typeface="Roboto"/>
              <a:ea typeface="Roboto"/>
              <a:cs typeface="Roboto"/>
              <a:sym typeface="Roboto"/>
            </a:endParaRPr>
          </a:p>
          <a:p>
            <a:pPr indent="-166200" lvl="0" marL="314999" rtl="0" algn="l">
              <a:lnSpc>
                <a:spcPct val="115000"/>
              </a:lnSpc>
              <a:spcBef>
                <a:spcPts val="1000"/>
              </a:spcBef>
              <a:spcAft>
                <a:spcPts val="0"/>
              </a:spcAft>
              <a:buSzPts val="1200"/>
              <a:buFont typeface="Roboto"/>
              <a:buAutoNum type="arabicPeriod"/>
            </a:pPr>
            <a:r>
              <a:rPr lang="ru" sz="1200">
                <a:highlight>
                  <a:srgbClr val="FFFFFF"/>
                </a:highlight>
                <a:latin typeface="Roboto"/>
                <a:ea typeface="Roboto"/>
                <a:cs typeface="Roboto"/>
                <a:sym typeface="Roboto"/>
              </a:rPr>
              <a:t>Тело цикла</a:t>
            </a:r>
            <a:endParaRPr sz="1200">
              <a:highlight>
                <a:srgbClr val="FFFFFF"/>
              </a:highlight>
              <a:latin typeface="Roboto"/>
              <a:ea typeface="Roboto"/>
              <a:cs typeface="Roboto"/>
              <a:sym typeface="Roboto"/>
            </a:endParaRPr>
          </a:p>
          <a:p>
            <a:pPr indent="-171450" lvl="1" marL="540000" marR="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Основные операции, которые повторяются</a:t>
            </a:r>
            <a:endParaRPr sz="1200">
              <a:highlight>
                <a:srgbClr val="FFFFFF"/>
              </a:highlight>
              <a:latin typeface="Roboto Light"/>
              <a:ea typeface="Roboto Light"/>
              <a:cs typeface="Roboto Light"/>
              <a:sym typeface="Roboto Light"/>
            </a:endParaRPr>
          </a:p>
          <a:p>
            <a:pPr indent="-171450" lvl="1" marL="540000" marR="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Изменение переменных</a:t>
            </a:r>
            <a:endParaRPr sz="1200">
              <a:highlight>
                <a:srgbClr val="FFFFFF"/>
              </a:highlight>
              <a:latin typeface="Roboto"/>
              <a:ea typeface="Roboto"/>
              <a:cs typeface="Roboto"/>
              <a:sym typeface="Roboto"/>
            </a:endParaRPr>
          </a:p>
          <a:p>
            <a:pPr indent="-166200" lvl="0" marL="314999" rtl="0" algn="l">
              <a:lnSpc>
                <a:spcPct val="115000"/>
              </a:lnSpc>
              <a:spcBef>
                <a:spcPts val="1000"/>
              </a:spcBef>
              <a:spcAft>
                <a:spcPts val="0"/>
              </a:spcAft>
              <a:buSzPts val="1200"/>
              <a:buFont typeface="Roboto"/>
              <a:buAutoNum type="arabicPeriod"/>
            </a:pPr>
            <a:r>
              <a:rPr lang="ru" sz="1200">
                <a:highlight>
                  <a:srgbClr val="FFFFFF"/>
                </a:highlight>
                <a:latin typeface="Roboto"/>
                <a:ea typeface="Roboto"/>
                <a:cs typeface="Roboto"/>
                <a:sym typeface="Roboto"/>
              </a:rPr>
              <a:t>Изменение счетчика</a:t>
            </a:r>
            <a:endParaRPr sz="1200">
              <a:highlight>
                <a:srgbClr val="FFFFFF"/>
              </a:highlight>
              <a:latin typeface="Roboto"/>
              <a:ea typeface="Roboto"/>
              <a:cs typeface="Roboto"/>
              <a:sym typeface="Roboto"/>
            </a:endParaRPr>
          </a:p>
          <a:p>
            <a:pPr indent="-171450" lvl="1" marL="540000" marR="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Увеличение или уменьшение счетчика</a:t>
            </a:r>
            <a:endParaRPr sz="1200">
              <a:highlight>
                <a:srgbClr val="FFFFFF"/>
              </a:highlight>
              <a:latin typeface="Roboto Light"/>
              <a:ea typeface="Roboto Light"/>
              <a:cs typeface="Roboto Light"/>
              <a:sym typeface="Roboto Light"/>
            </a:endParaRPr>
          </a:p>
          <a:p>
            <a:pPr indent="-171450" lvl="1" marL="540000" marR="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Подготовка к следующему повторению</a:t>
            </a:r>
            <a:endParaRPr sz="1200">
              <a:highlight>
                <a:srgbClr val="FFFFFF"/>
              </a:highlight>
              <a:latin typeface="Roboto"/>
              <a:ea typeface="Roboto"/>
              <a:cs typeface="Roboto"/>
              <a:sym typeface="Roboto"/>
            </a:endParaRPr>
          </a:p>
          <a:p>
            <a:pPr indent="-166200" lvl="0" marL="314999" rtl="0" algn="l">
              <a:lnSpc>
                <a:spcPct val="115000"/>
              </a:lnSpc>
              <a:spcBef>
                <a:spcPts val="1000"/>
              </a:spcBef>
              <a:spcAft>
                <a:spcPts val="0"/>
              </a:spcAft>
              <a:buSzPts val="1200"/>
              <a:buFont typeface="Roboto"/>
              <a:buAutoNum type="arabicPeriod"/>
            </a:pPr>
            <a:r>
              <a:rPr lang="ru" sz="1200">
                <a:highlight>
                  <a:srgbClr val="FFFFFF"/>
                </a:highlight>
                <a:latin typeface="Roboto"/>
                <a:ea typeface="Roboto"/>
                <a:cs typeface="Roboto"/>
                <a:sym typeface="Roboto"/>
              </a:rPr>
              <a:t>Условие завершения цикла</a:t>
            </a:r>
            <a:endParaRPr sz="1200">
              <a:highlight>
                <a:srgbClr val="FFFFFF"/>
              </a:highlight>
              <a:latin typeface="Roboto"/>
              <a:ea typeface="Roboto"/>
              <a:cs typeface="Roboto"/>
              <a:sym typeface="Roboto"/>
            </a:endParaRPr>
          </a:p>
          <a:p>
            <a:pPr indent="-171450" lvl="1" marL="54000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Проверка необходимости дальнейшего выполнения</a:t>
            </a:r>
            <a:endParaRPr sz="1200">
              <a:highlight>
                <a:srgbClr val="FFFFFF"/>
              </a:highlight>
              <a:latin typeface="Roboto Light"/>
              <a:ea typeface="Roboto Light"/>
              <a:cs typeface="Roboto Light"/>
              <a:sym typeface="Roboto Light"/>
            </a:endParaRPr>
          </a:p>
          <a:p>
            <a:pPr indent="-171450" lvl="1" marL="540000" rtl="0" algn="l">
              <a:lnSpc>
                <a:spcPct val="115000"/>
              </a:lnSpc>
              <a:spcBef>
                <a:spcPts val="0"/>
              </a:spcBef>
              <a:spcAft>
                <a:spcPts val="0"/>
              </a:spcAft>
              <a:buSzPts val="1200"/>
              <a:buFont typeface="Roboto Light"/>
              <a:buAutoNum type="alphaLcPeriod"/>
            </a:pPr>
            <a:r>
              <a:rPr lang="ru" sz="1200">
                <a:highlight>
                  <a:srgbClr val="FFFFFF"/>
                </a:highlight>
                <a:latin typeface="Roboto Light"/>
                <a:ea typeface="Roboto Light"/>
                <a:cs typeface="Roboto Light"/>
                <a:sym typeface="Roboto Light"/>
              </a:rPr>
              <a:t>Выход из цикла при достижении конца</a:t>
            </a:r>
            <a:endParaRPr sz="1200">
              <a:highlight>
                <a:srgbClr val="FFFFFF"/>
              </a:highlight>
              <a:latin typeface="Roboto Light"/>
              <a:ea typeface="Roboto Light"/>
              <a:cs typeface="Roboto Light"/>
              <a:sym typeface="Roboto Light"/>
            </a:endParaRPr>
          </a:p>
        </p:txBody>
      </p:sp>
      <p:pic>
        <p:nvPicPr>
          <p:cNvPr id="83" name="Google Shape;83;p16"/>
          <p:cNvPicPr preferRelativeResize="0"/>
          <p:nvPr/>
        </p:nvPicPr>
        <p:blipFill>
          <a:blip r:embed="rId3">
            <a:alphaModFix/>
          </a:blip>
          <a:stretch>
            <a:fillRect/>
          </a:stretch>
        </p:blipFill>
        <p:spPr>
          <a:xfrm>
            <a:off x="5285150" y="1170125"/>
            <a:ext cx="3436799" cy="38209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Цикл с параметром. Цикл FOR</a:t>
            </a:r>
            <a:endParaRPr sz="2500"/>
          </a:p>
        </p:txBody>
      </p:sp>
      <p:sp>
        <p:nvSpPr>
          <p:cNvPr id="89" name="Google Shape;89;p17"/>
          <p:cNvSpPr txBox="1"/>
          <p:nvPr/>
        </p:nvSpPr>
        <p:spPr>
          <a:xfrm>
            <a:off x="323150" y="1142000"/>
            <a:ext cx="4971300" cy="359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Цикл FOR </a:t>
            </a:r>
            <a:r>
              <a:rPr lang="ru" sz="1200">
                <a:highlight>
                  <a:srgbClr val="FFFFFF"/>
                </a:highlight>
                <a:latin typeface="Roboto Light"/>
                <a:ea typeface="Roboto Light"/>
                <a:cs typeface="Roboto Light"/>
                <a:sym typeface="Roboto Light"/>
              </a:rPr>
              <a:t>– это цикл, в котором </a:t>
            </a:r>
            <a:r>
              <a:rPr lang="ru" sz="1200">
                <a:highlight>
                  <a:srgbClr val="FFFFFF"/>
                </a:highlight>
                <a:latin typeface="Roboto"/>
                <a:ea typeface="Roboto"/>
                <a:cs typeface="Roboto"/>
                <a:sym typeface="Roboto"/>
              </a:rPr>
              <a:t>количество повторений известно заранее</a:t>
            </a:r>
            <a:r>
              <a:rPr lang="ru" sz="1200">
                <a:highlight>
                  <a:srgbClr val="FFFFFF"/>
                </a:highlight>
                <a:latin typeface="Roboto Light"/>
                <a:ea typeface="Roboto Light"/>
                <a:cs typeface="Roboto Light"/>
                <a:sym typeface="Roboto Light"/>
              </a:rPr>
              <a:t>, </a:t>
            </a:r>
            <a:r>
              <a:rPr lang="ru" sz="1200">
                <a:highlight>
                  <a:srgbClr val="FFFFFF"/>
                </a:highlight>
                <a:latin typeface="Roboto Light"/>
                <a:ea typeface="Roboto Light"/>
                <a:cs typeface="Roboto Light"/>
                <a:sym typeface="Roboto Light"/>
              </a:rPr>
              <a:t>управляется переменной-счетчиком (параметром), которая изменяется от начального значения к конечному.</a:t>
            </a:r>
            <a:br>
              <a:rPr lang="ru" sz="1200">
                <a:highlight>
                  <a:srgbClr val="FFFFFF"/>
                </a:highlight>
                <a:latin typeface="Roboto Light"/>
                <a:ea typeface="Roboto Light"/>
                <a:cs typeface="Roboto Light"/>
                <a:sym typeface="Roboto Light"/>
              </a:rPr>
            </a:br>
            <a:br>
              <a:rPr lang="ru" sz="1200">
                <a:highlight>
                  <a:srgbClr val="FFFFFF"/>
                </a:highlight>
                <a:latin typeface="Roboto Light"/>
                <a:ea typeface="Roboto Light"/>
                <a:cs typeface="Roboto Light"/>
                <a:sym typeface="Roboto Light"/>
              </a:rPr>
            </a:br>
            <a:r>
              <a:rPr lang="ru" sz="1200">
                <a:highlight>
                  <a:srgbClr val="FFFFFF"/>
                </a:highlight>
                <a:latin typeface="Roboto"/>
                <a:ea typeface="Roboto"/>
                <a:cs typeface="Roboto"/>
                <a:sym typeface="Roboto"/>
              </a:rPr>
              <a:t>Другие названия:</a:t>
            </a:r>
            <a:endParaRPr sz="1200">
              <a:highlight>
                <a:srgbClr val="FFFFFF"/>
              </a:highlight>
              <a:latin typeface="Roboto Light"/>
              <a:ea typeface="Roboto Light"/>
              <a:cs typeface="Roboto Light"/>
              <a:sym typeface="Roboto Light"/>
            </a:endParaRPr>
          </a:p>
          <a:p>
            <a:pPr indent="-171450" lvl="0" marL="180000" rtl="0" algn="l">
              <a:lnSpc>
                <a:spcPct val="115000"/>
              </a:lnSpc>
              <a:spcBef>
                <a:spcPts val="1000"/>
              </a:spcBef>
              <a:spcAft>
                <a:spcPts val="0"/>
              </a:spcAft>
              <a:buSzPts val="1200"/>
              <a:buFont typeface="Roboto Light"/>
              <a:buChar char="●"/>
            </a:pPr>
            <a:r>
              <a:rPr lang="ru" sz="1200">
                <a:highlight>
                  <a:srgbClr val="FFFFFF"/>
                </a:highlight>
                <a:latin typeface="Roboto Light"/>
                <a:ea typeface="Roboto Light"/>
                <a:cs typeface="Roboto Light"/>
                <a:sym typeface="Roboto Light"/>
              </a:rPr>
              <a:t>Арифметический цикл</a:t>
            </a:r>
            <a:endParaRPr sz="1200">
              <a:highlight>
                <a:srgbClr val="FFFFFF"/>
              </a:highlight>
              <a:latin typeface="Roboto Light"/>
              <a:ea typeface="Roboto Light"/>
              <a:cs typeface="Roboto Light"/>
              <a:sym typeface="Roboto Light"/>
            </a:endParaRPr>
          </a:p>
          <a:p>
            <a:pPr indent="-171450" lvl="0" marL="180000" rtl="0" algn="l">
              <a:lnSpc>
                <a:spcPct val="115000"/>
              </a:lnSpc>
              <a:spcBef>
                <a:spcPts val="0"/>
              </a:spcBef>
              <a:spcAft>
                <a:spcPts val="0"/>
              </a:spcAft>
              <a:buSzPts val="1200"/>
              <a:buFont typeface="Roboto Light"/>
              <a:buChar char="●"/>
            </a:pPr>
            <a:r>
              <a:rPr lang="ru" sz="1200">
                <a:highlight>
                  <a:srgbClr val="FFFFFF"/>
                </a:highlight>
                <a:latin typeface="Roboto Light"/>
                <a:ea typeface="Roboto Light"/>
                <a:cs typeface="Roboto Light"/>
                <a:sym typeface="Roboto Light"/>
              </a:rPr>
              <a:t>Цикл со счетчиком</a:t>
            </a:r>
            <a:endParaRPr sz="1200">
              <a:highlight>
                <a:srgbClr val="FFFFFF"/>
              </a:highlight>
              <a:latin typeface="Roboto Light"/>
              <a:ea typeface="Roboto Light"/>
              <a:cs typeface="Roboto Light"/>
              <a:sym typeface="Roboto Light"/>
            </a:endParaRPr>
          </a:p>
          <a:p>
            <a:pPr indent="-171450" lvl="0" marL="180000" rtl="0" algn="l">
              <a:lnSpc>
                <a:spcPct val="115000"/>
              </a:lnSpc>
              <a:spcBef>
                <a:spcPts val="0"/>
              </a:spcBef>
              <a:spcAft>
                <a:spcPts val="0"/>
              </a:spcAft>
              <a:buSzPts val="1200"/>
              <a:buFont typeface="Roboto Light"/>
              <a:buChar char="●"/>
            </a:pPr>
            <a:r>
              <a:rPr lang="ru" sz="1200">
                <a:highlight>
                  <a:srgbClr val="FFFFFF"/>
                </a:highlight>
                <a:latin typeface="Roboto Light"/>
                <a:ea typeface="Roboto Light"/>
                <a:cs typeface="Roboto Light"/>
                <a:sym typeface="Roboto Light"/>
              </a:rPr>
              <a:t>Цикл с параметром</a:t>
            </a:r>
            <a:endParaRPr sz="1200">
              <a:highlight>
                <a:srgbClr val="FFFFFF"/>
              </a:highlight>
              <a:latin typeface="Roboto Light"/>
              <a:ea typeface="Roboto Light"/>
              <a:cs typeface="Roboto Light"/>
              <a:sym typeface="Roboto Light"/>
            </a:endParaRPr>
          </a:p>
          <a:p>
            <a:pPr indent="-171450" lvl="0" marL="180000" rtl="0" algn="l">
              <a:lnSpc>
                <a:spcPct val="115000"/>
              </a:lnSpc>
              <a:spcBef>
                <a:spcPts val="0"/>
              </a:spcBef>
              <a:spcAft>
                <a:spcPts val="0"/>
              </a:spcAft>
              <a:buSzPts val="1200"/>
              <a:buFont typeface="Roboto Light"/>
              <a:buChar char="●"/>
            </a:pPr>
            <a:r>
              <a:rPr lang="ru" sz="1200">
                <a:highlight>
                  <a:srgbClr val="FFFFFF"/>
                </a:highlight>
                <a:latin typeface="Roboto Light"/>
                <a:ea typeface="Roboto Light"/>
                <a:cs typeface="Roboto Light"/>
                <a:sym typeface="Roboto Light"/>
              </a:rPr>
              <a:t>Детерминированный цикл</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Когда использовать:</a:t>
            </a:r>
            <a:endParaRPr sz="1200">
              <a:highlight>
                <a:srgbClr val="FFFFFF"/>
              </a:highlight>
              <a:latin typeface="Roboto"/>
              <a:ea typeface="Roboto"/>
              <a:cs typeface="Roboto"/>
              <a:sym typeface="Roboto"/>
            </a:endParaRPr>
          </a:p>
          <a:p>
            <a:pPr indent="-171450" lvl="0" marL="180000" rtl="0" algn="l">
              <a:lnSpc>
                <a:spcPct val="115000"/>
              </a:lnSpc>
              <a:spcBef>
                <a:spcPts val="1000"/>
              </a:spcBef>
              <a:spcAft>
                <a:spcPts val="0"/>
              </a:spcAft>
              <a:buSzPts val="1200"/>
              <a:buFont typeface="Roboto Light"/>
              <a:buChar char="●"/>
            </a:pPr>
            <a:r>
              <a:rPr lang="ru" sz="1200">
                <a:highlight>
                  <a:srgbClr val="FFFFFF"/>
                </a:highlight>
                <a:latin typeface="Roboto Light"/>
                <a:ea typeface="Roboto Light"/>
                <a:cs typeface="Roboto Light"/>
                <a:sym typeface="Roboto Light"/>
              </a:rPr>
              <a:t>Когда известно точное количество повторений</a:t>
            </a:r>
            <a:endParaRPr sz="1200">
              <a:highlight>
                <a:srgbClr val="FFFFFF"/>
              </a:highlight>
              <a:latin typeface="Roboto Light"/>
              <a:ea typeface="Roboto Light"/>
              <a:cs typeface="Roboto Light"/>
              <a:sym typeface="Roboto Light"/>
            </a:endParaRPr>
          </a:p>
          <a:p>
            <a:pPr indent="-171450" lvl="0" marL="180000" rtl="0" algn="l">
              <a:lnSpc>
                <a:spcPct val="115000"/>
              </a:lnSpc>
              <a:spcBef>
                <a:spcPts val="0"/>
              </a:spcBef>
              <a:spcAft>
                <a:spcPts val="0"/>
              </a:spcAft>
              <a:buSzPts val="1200"/>
              <a:buFont typeface="Roboto Light"/>
              <a:buChar char="●"/>
            </a:pPr>
            <a:r>
              <a:rPr lang="ru" sz="1200">
                <a:highlight>
                  <a:srgbClr val="FFFFFF"/>
                </a:highlight>
                <a:latin typeface="Roboto Light"/>
                <a:ea typeface="Roboto Light"/>
                <a:cs typeface="Roboto Light"/>
                <a:sym typeface="Roboto Light"/>
              </a:rPr>
              <a:t>Когда нужно обработать элементы последовательности</a:t>
            </a:r>
            <a:endParaRPr sz="1200">
              <a:highlight>
                <a:srgbClr val="FFFFFF"/>
              </a:highlight>
              <a:latin typeface="Roboto Light"/>
              <a:ea typeface="Roboto Light"/>
              <a:cs typeface="Roboto Light"/>
              <a:sym typeface="Roboto Light"/>
            </a:endParaRPr>
          </a:p>
          <a:p>
            <a:pPr indent="-171450" lvl="0" marL="180000" rtl="0" algn="l">
              <a:lnSpc>
                <a:spcPct val="115000"/>
              </a:lnSpc>
              <a:spcBef>
                <a:spcPts val="0"/>
              </a:spcBef>
              <a:spcAft>
                <a:spcPts val="0"/>
              </a:spcAft>
              <a:buSzPts val="1200"/>
              <a:buFont typeface="Roboto Light"/>
              <a:buChar char="●"/>
            </a:pPr>
            <a:r>
              <a:rPr lang="ru" sz="1200">
                <a:highlight>
                  <a:srgbClr val="FFFFFF"/>
                </a:highlight>
                <a:latin typeface="Roboto Light"/>
                <a:ea typeface="Roboto Light"/>
                <a:cs typeface="Roboto Light"/>
                <a:sym typeface="Roboto Light"/>
              </a:rPr>
              <a:t>Когда счетчик должен измениться по арифметическому закону</a:t>
            </a:r>
            <a:endParaRPr sz="1200">
              <a:highlight>
                <a:srgbClr val="FFFFFF"/>
              </a:highlight>
              <a:latin typeface="Roboto Light"/>
              <a:ea typeface="Roboto Light"/>
              <a:cs typeface="Roboto Light"/>
              <a:sym typeface="Roboto Light"/>
            </a:endParaRPr>
          </a:p>
        </p:txBody>
      </p:sp>
      <p:pic>
        <p:nvPicPr>
          <p:cNvPr id="90" name="Google Shape;90;p17"/>
          <p:cNvPicPr preferRelativeResize="0"/>
          <p:nvPr/>
        </p:nvPicPr>
        <p:blipFill>
          <a:blip r:embed="rId3">
            <a:alphaModFix/>
          </a:blip>
          <a:stretch>
            <a:fillRect/>
          </a:stretch>
        </p:blipFill>
        <p:spPr>
          <a:xfrm>
            <a:off x="5435875" y="1027313"/>
            <a:ext cx="3396422" cy="3820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Синтаксис цикла FOR в Python</a:t>
            </a:r>
            <a:endParaRPr sz="2500"/>
          </a:p>
        </p:txBody>
      </p:sp>
      <p:sp>
        <p:nvSpPr>
          <p:cNvPr id="96" name="Google Shape;96;p18"/>
          <p:cNvSpPr txBox="1"/>
          <p:nvPr/>
        </p:nvSpPr>
        <p:spPr>
          <a:xfrm>
            <a:off x="497225" y="3231300"/>
            <a:ext cx="6951300" cy="19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Элементы синтаксиса:</a:t>
            </a:r>
            <a:endParaRPr sz="1000">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SzPts val="1200"/>
              <a:buChar char="●"/>
            </a:pPr>
            <a:r>
              <a:rPr lang="ru" sz="1200">
                <a:highlight>
                  <a:srgbClr val="FFFFFF"/>
                </a:highlight>
                <a:latin typeface="Roboto"/>
                <a:ea typeface="Roboto"/>
                <a:cs typeface="Roboto"/>
                <a:sym typeface="Roboto"/>
              </a:rPr>
              <a:t>for</a:t>
            </a:r>
            <a:r>
              <a:rPr lang="ru" sz="1200">
                <a:highlight>
                  <a:srgbClr val="FFFFFF"/>
                </a:highlight>
                <a:latin typeface="Roboto Light"/>
                <a:ea typeface="Roboto Light"/>
                <a:cs typeface="Roboto Light"/>
                <a:sym typeface="Roboto Light"/>
              </a:rPr>
              <a:t> – ключевое слово, обозначающее цикл</a:t>
            </a:r>
            <a:endParaRPr sz="1200">
              <a:highlight>
                <a:srgbClr val="FFFFFF"/>
              </a:highlight>
              <a:latin typeface="Roboto Light"/>
              <a:ea typeface="Roboto Light"/>
              <a:cs typeface="Roboto Light"/>
              <a:sym typeface="Roboto Light"/>
            </a:endParaRPr>
          </a:p>
          <a:p>
            <a:pPr indent="-304800" lvl="0" marL="457200" rtl="0" algn="l">
              <a:lnSpc>
                <a:spcPct val="115000"/>
              </a:lnSpc>
              <a:spcBef>
                <a:spcPts val="0"/>
              </a:spcBef>
              <a:spcAft>
                <a:spcPts val="0"/>
              </a:spcAft>
              <a:buSzPts val="1200"/>
              <a:buChar char="●"/>
            </a:pPr>
            <a:r>
              <a:rPr lang="ru" sz="1200">
                <a:highlight>
                  <a:srgbClr val="FFFFFF"/>
                </a:highlight>
                <a:latin typeface="Roboto"/>
                <a:ea typeface="Roboto"/>
                <a:cs typeface="Roboto"/>
                <a:sym typeface="Roboto"/>
              </a:rPr>
              <a:t>переменная_цикла </a:t>
            </a:r>
            <a:r>
              <a:rPr lang="ru" sz="1200">
                <a:highlight>
                  <a:srgbClr val="FFFFFF"/>
                </a:highlight>
                <a:latin typeface="Roboto Light"/>
                <a:ea typeface="Roboto Light"/>
                <a:cs typeface="Roboto Light"/>
                <a:sym typeface="Roboto Light"/>
              </a:rPr>
              <a:t>– переменная-счетчик </a:t>
            </a:r>
            <a:endParaRPr sz="1200">
              <a:highlight>
                <a:srgbClr val="FFFFFF"/>
              </a:highlight>
              <a:latin typeface="Roboto Light"/>
              <a:ea typeface="Roboto Light"/>
              <a:cs typeface="Roboto Light"/>
              <a:sym typeface="Roboto Light"/>
            </a:endParaRPr>
          </a:p>
          <a:p>
            <a:pPr indent="-304800" lvl="0" marL="457200" rtl="0" algn="l">
              <a:lnSpc>
                <a:spcPct val="115000"/>
              </a:lnSpc>
              <a:spcBef>
                <a:spcPts val="0"/>
              </a:spcBef>
              <a:spcAft>
                <a:spcPts val="0"/>
              </a:spcAft>
              <a:buSzPts val="1200"/>
              <a:buChar char="●"/>
            </a:pPr>
            <a:r>
              <a:rPr lang="ru" sz="1200">
                <a:highlight>
                  <a:srgbClr val="FFFFFF"/>
                </a:highlight>
                <a:latin typeface="Roboto"/>
                <a:ea typeface="Roboto"/>
                <a:cs typeface="Roboto"/>
                <a:sym typeface="Roboto"/>
              </a:rPr>
              <a:t>range()</a:t>
            </a:r>
            <a:r>
              <a:rPr lang="ru" sz="1200">
                <a:highlight>
                  <a:srgbClr val="FFFFFF"/>
                </a:highlight>
                <a:latin typeface="Roboto Light"/>
                <a:ea typeface="Roboto Light"/>
                <a:cs typeface="Roboto Light"/>
                <a:sym typeface="Roboto Light"/>
              </a:rPr>
              <a:t> – функция для генерации последовательности чисел</a:t>
            </a:r>
            <a:endParaRPr sz="1200">
              <a:highlight>
                <a:srgbClr val="FFFFFF"/>
              </a:highlight>
              <a:latin typeface="Roboto Light"/>
              <a:ea typeface="Roboto Light"/>
              <a:cs typeface="Roboto Light"/>
              <a:sym typeface="Roboto Light"/>
            </a:endParaRPr>
          </a:p>
          <a:p>
            <a:pPr indent="-304800" lvl="0" marL="457200" rtl="0" algn="l">
              <a:lnSpc>
                <a:spcPct val="115000"/>
              </a:lnSpc>
              <a:spcBef>
                <a:spcPts val="0"/>
              </a:spcBef>
              <a:spcAft>
                <a:spcPts val="0"/>
              </a:spcAft>
              <a:buSzPts val="1200"/>
              <a:buChar char="●"/>
            </a:pPr>
            <a:r>
              <a:rPr lang="ru" sz="1200">
                <a:highlight>
                  <a:srgbClr val="FFFFFF"/>
                </a:highlight>
                <a:latin typeface="Roboto"/>
                <a:ea typeface="Roboto"/>
                <a:cs typeface="Roboto"/>
                <a:sym typeface="Roboto"/>
              </a:rPr>
              <a:t>начало</a:t>
            </a:r>
            <a:r>
              <a:rPr lang="ru" sz="1200">
                <a:highlight>
                  <a:srgbClr val="FFFFFF"/>
                </a:highlight>
                <a:latin typeface="Roboto Light"/>
                <a:ea typeface="Roboto Light"/>
                <a:cs typeface="Roboto Light"/>
                <a:sym typeface="Roboto Light"/>
              </a:rPr>
              <a:t> – первое значение счетчика (включительно)</a:t>
            </a:r>
            <a:endParaRPr sz="1200">
              <a:highlight>
                <a:srgbClr val="FFFFFF"/>
              </a:highlight>
              <a:latin typeface="Roboto Light"/>
              <a:ea typeface="Roboto Light"/>
              <a:cs typeface="Roboto Light"/>
              <a:sym typeface="Roboto Light"/>
            </a:endParaRPr>
          </a:p>
          <a:p>
            <a:pPr indent="-304800" lvl="0" marL="457200" rtl="0" algn="l">
              <a:lnSpc>
                <a:spcPct val="115000"/>
              </a:lnSpc>
              <a:spcBef>
                <a:spcPts val="0"/>
              </a:spcBef>
              <a:spcAft>
                <a:spcPts val="0"/>
              </a:spcAft>
              <a:buSzPts val="1200"/>
              <a:buChar char="●"/>
            </a:pPr>
            <a:r>
              <a:rPr lang="ru" sz="1200">
                <a:highlight>
                  <a:srgbClr val="FFFFFF"/>
                </a:highlight>
                <a:latin typeface="Roboto"/>
                <a:ea typeface="Roboto"/>
                <a:cs typeface="Roboto"/>
                <a:sym typeface="Roboto"/>
              </a:rPr>
              <a:t>конец</a:t>
            </a:r>
            <a:r>
              <a:rPr lang="ru" sz="1200">
                <a:highlight>
                  <a:srgbClr val="FFFFFF"/>
                </a:highlight>
                <a:latin typeface="Roboto Light"/>
                <a:ea typeface="Roboto Light"/>
                <a:cs typeface="Roboto Light"/>
                <a:sym typeface="Roboto Light"/>
              </a:rPr>
              <a:t> – последнее значение счетчика (исключительно!)</a:t>
            </a:r>
            <a:endParaRPr sz="1200">
              <a:highlight>
                <a:srgbClr val="FFFFFF"/>
              </a:highlight>
              <a:latin typeface="Roboto Light"/>
              <a:ea typeface="Roboto Light"/>
              <a:cs typeface="Roboto Light"/>
              <a:sym typeface="Roboto Light"/>
            </a:endParaRPr>
          </a:p>
          <a:p>
            <a:pPr indent="-304800" lvl="0" marL="457200" rtl="0" algn="l">
              <a:lnSpc>
                <a:spcPct val="115000"/>
              </a:lnSpc>
              <a:spcBef>
                <a:spcPts val="0"/>
              </a:spcBef>
              <a:spcAft>
                <a:spcPts val="0"/>
              </a:spcAft>
              <a:buSzPts val="1200"/>
              <a:buChar char="●"/>
            </a:pPr>
            <a:r>
              <a:rPr lang="ru" sz="1200">
                <a:highlight>
                  <a:srgbClr val="FFFFFF"/>
                </a:highlight>
                <a:latin typeface="Roboto"/>
                <a:ea typeface="Roboto"/>
                <a:cs typeface="Roboto"/>
                <a:sym typeface="Roboto"/>
              </a:rPr>
              <a:t>шаг</a:t>
            </a:r>
            <a:r>
              <a:rPr lang="ru" sz="1200">
                <a:highlight>
                  <a:srgbClr val="FFFFFF"/>
                </a:highlight>
                <a:latin typeface="Roboto Light"/>
                <a:ea typeface="Roboto Light"/>
                <a:cs typeface="Roboto Light"/>
                <a:sym typeface="Roboto Light"/>
              </a:rPr>
              <a:t> – величина, на которую изменяется счетчик</a:t>
            </a:r>
            <a:endParaRPr sz="1200">
              <a:highlight>
                <a:srgbClr val="FFFFFF"/>
              </a:highlight>
              <a:latin typeface="Roboto Light"/>
              <a:ea typeface="Roboto Light"/>
              <a:cs typeface="Roboto Light"/>
              <a:sym typeface="Roboto Light"/>
            </a:endParaRPr>
          </a:p>
          <a:p>
            <a:pPr indent="-304800" lvl="0" marL="457200" rtl="0" algn="l">
              <a:lnSpc>
                <a:spcPct val="115000"/>
              </a:lnSpc>
              <a:spcBef>
                <a:spcPts val="0"/>
              </a:spcBef>
              <a:spcAft>
                <a:spcPts val="0"/>
              </a:spcAft>
              <a:buSzPts val="1200"/>
              <a:buChar char="●"/>
            </a:pPr>
            <a:r>
              <a:rPr lang="ru" sz="1200">
                <a:highlight>
                  <a:srgbClr val="FFFFFF"/>
                </a:highlight>
                <a:latin typeface="Roboto"/>
                <a:ea typeface="Roboto"/>
                <a:cs typeface="Roboto"/>
                <a:sym typeface="Roboto"/>
              </a:rPr>
              <a:t>:</a:t>
            </a:r>
            <a:r>
              <a:rPr lang="ru" sz="1200">
                <a:highlight>
                  <a:srgbClr val="FFFFFF"/>
                </a:highlight>
                <a:latin typeface="Roboto Light"/>
                <a:ea typeface="Roboto Light"/>
                <a:cs typeface="Roboto Light"/>
                <a:sym typeface="Roboto Light"/>
              </a:rPr>
              <a:t> – обязательный двоеточие в конце строки</a:t>
            </a:r>
            <a:br>
              <a:rPr lang="ru" sz="1200">
                <a:highlight>
                  <a:srgbClr val="FFFFFF"/>
                </a:highlight>
                <a:latin typeface="Roboto Light"/>
                <a:ea typeface="Roboto Light"/>
                <a:cs typeface="Roboto Light"/>
                <a:sym typeface="Roboto Light"/>
              </a:rPr>
            </a:br>
            <a:br>
              <a:rPr lang="ru" sz="1200">
                <a:highlight>
                  <a:srgbClr val="FFFFFF"/>
                </a:highlight>
                <a:latin typeface="Roboto Light"/>
                <a:ea typeface="Roboto Light"/>
                <a:cs typeface="Roboto Light"/>
                <a:sym typeface="Roboto Light"/>
              </a:rPr>
            </a:br>
            <a:endParaRPr sz="1200">
              <a:highlight>
                <a:srgbClr val="FFFFFF"/>
              </a:highlight>
              <a:latin typeface="Roboto Light"/>
              <a:ea typeface="Roboto Light"/>
              <a:cs typeface="Roboto Light"/>
              <a:sym typeface="Roboto Light"/>
            </a:endParaRPr>
          </a:p>
        </p:txBody>
      </p:sp>
      <p:pic>
        <p:nvPicPr>
          <p:cNvPr id="97" name="Google Shape;97;p18"/>
          <p:cNvPicPr preferRelativeResize="0"/>
          <p:nvPr/>
        </p:nvPicPr>
        <p:blipFill rotWithShape="1">
          <a:blip r:embed="rId3">
            <a:alphaModFix/>
          </a:blip>
          <a:srcRect b="13487" l="0" r="0" t="0"/>
          <a:stretch/>
        </p:blipFill>
        <p:spPr>
          <a:xfrm>
            <a:off x="0" y="933176"/>
            <a:ext cx="9144000" cy="2421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Переменная цикла. Счетчик цикла (i, j, k)</a:t>
            </a:r>
            <a:endParaRPr sz="2500"/>
          </a:p>
        </p:txBody>
      </p:sp>
      <p:sp>
        <p:nvSpPr>
          <p:cNvPr id="103" name="Google Shape;103;p19"/>
          <p:cNvSpPr txBox="1"/>
          <p:nvPr/>
        </p:nvSpPr>
        <p:spPr>
          <a:xfrm>
            <a:off x="323150" y="1300975"/>
            <a:ext cx="5292600" cy="81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Счетчик</a:t>
            </a:r>
            <a:r>
              <a:rPr lang="ru" sz="1200">
                <a:highlight>
                  <a:srgbClr val="FFFFFF"/>
                </a:highlight>
                <a:latin typeface="Roboto Light"/>
                <a:ea typeface="Roboto Light"/>
                <a:cs typeface="Roboto Light"/>
                <a:sym typeface="Roboto Light"/>
              </a:rPr>
              <a:t> – это переменная цикла, которая меняет свое значение при каждом повторении цикла. Она управляет количеством повторений и обычно используется в условиях или вычислениях.</a:t>
            </a:r>
            <a:endParaRPr sz="1200">
              <a:highlight>
                <a:srgbClr val="FFFFFF"/>
              </a:highlight>
              <a:latin typeface="Roboto"/>
              <a:ea typeface="Roboto"/>
              <a:cs typeface="Roboto"/>
              <a:sym typeface="Roboto"/>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sp>
        <p:nvSpPr>
          <p:cNvPr id="104" name="Google Shape;104;p19"/>
          <p:cNvSpPr txBox="1"/>
          <p:nvPr/>
        </p:nvSpPr>
        <p:spPr>
          <a:xfrm>
            <a:off x="323150" y="2293125"/>
            <a:ext cx="6696600" cy="156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Правила использования счетчика:</a:t>
            </a:r>
            <a:endParaRPr sz="1200">
              <a:highlight>
                <a:srgbClr val="FFFFFF"/>
              </a:highlight>
              <a:latin typeface="Roboto"/>
              <a:ea typeface="Roboto"/>
              <a:cs typeface="Roboto"/>
              <a:sym typeface="Roboto"/>
            </a:endParaRPr>
          </a:p>
          <a:p>
            <a:pPr indent="-171450" lvl="0" marL="269999" rtl="0" algn="l">
              <a:lnSpc>
                <a:spcPct val="115000"/>
              </a:lnSpc>
              <a:spcBef>
                <a:spcPts val="1000"/>
              </a:spcBef>
              <a:spcAft>
                <a:spcPts val="0"/>
              </a:spcAft>
              <a:buSzPts val="1200"/>
              <a:buFont typeface="Roboto Light"/>
              <a:buAutoNum type="arabicPeriod"/>
            </a:pPr>
            <a:r>
              <a:rPr lang="ru" sz="1200">
                <a:highlight>
                  <a:srgbClr val="FFFFFF"/>
                </a:highlight>
                <a:latin typeface="Roboto"/>
                <a:ea typeface="Roboto"/>
                <a:cs typeface="Roboto"/>
                <a:sym typeface="Roboto"/>
              </a:rPr>
              <a:t>Имя переменной </a:t>
            </a:r>
            <a:r>
              <a:rPr lang="ru" sz="1200">
                <a:highlight>
                  <a:srgbClr val="FFFFFF"/>
                </a:highlight>
                <a:latin typeface="Roboto Light"/>
                <a:ea typeface="Roboto Light"/>
                <a:cs typeface="Roboto Light"/>
                <a:sym typeface="Roboto Light"/>
              </a:rPr>
              <a:t>– обычно используют однобуквенные имена: i, j, k (от слова iteration) </a:t>
            </a:r>
            <a:endParaRPr sz="1200">
              <a:highlight>
                <a:srgbClr val="FFFFFF"/>
              </a:highlight>
              <a:latin typeface="Roboto Light"/>
              <a:ea typeface="Roboto Light"/>
              <a:cs typeface="Roboto Light"/>
              <a:sym typeface="Roboto Light"/>
            </a:endParaRPr>
          </a:p>
          <a:p>
            <a:pPr indent="-171450" lvl="0" marL="269999" rtl="0" algn="l">
              <a:lnSpc>
                <a:spcPct val="115000"/>
              </a:lnSpc>
              <a:spcBef>
                <a:spcPts val="0"/>
              </a:spcBef>
              <a:spcAft>
                <a:spcPts val="0"/>
              </a:spcAft>
              <a:buSzPts val="1200"/>
              <a:buFont typeface="Roboto Light"/>
              <a:buAutoNum type="arabicPeriod"/>
            </a:pPr>
            <a:r>
              <a:rPr lang="ru" sz="1200">
                <a:highlight>
                  <a:srgbClr val="FFFFFF"/>
                </a:highlight>
                <a:latin typeface="Roboto"/>
                <a:ea typeface="Roboto"/>
                <a:cs typeface="Roboto"/>
                <a:sym typeface="Roboto"/>
              </a:rPr>
              <a:t>Инициализация</a:t>
            </a:r>
            <a:r>
              <a:rPr lang="ru" sz="1200">
                <a:highlight>
                  <a:srgbClr val="FFFFFF"/>
                </a:highlight>
                <a:latin typeface="Roboto Light"/>
                <a:ea typeface="Roboto Light"/>
                <a:cs typeface="Roboto Light"/>
                <a:sym typeface="Roboto Light"/>
              </a:rPr>
              <a:t> – счетчик должен иметь начальное значение </a:t>
            </a:r>
            <a:endParaRPr sz="1200">
              <a:highlight>
                <a:srgbClr val="FFFFFF"/>
              </a:highlight>
              <a:latin typeface="Roboto Light"/>
              <a:ea typeface="Roboto Light"/>
              <a:cs typeface="Roboto Light"/>
              <a:sym typeface="Roboto Light"/>
            </a:endParaRPr>
          </a:p>
          <a:p>
            <a:pPr indent="-171450" lvl="0" marL="269999" rtl="0" algn="l">
              <a:lnSpc>
                <a:spcPct val="115000"/>
              </a:lnSpc>
              <a:spcBef>
                <a:spcPts val="0"/>
              </a:spcBef>
              <a:spcAft>
                <a:spcPts val="0"/>
              </a:spcAft>
              <a:buSzPts val="1200"/>
              <a:buFont typeface="Roboto Light"/>
              <a:buAutoNum type="arabicPeriod"/>
            </a:pPr>
            <a:r>
              <a:rPr lang="ru" sz="1200">
                <a:highlight>
                  <a:srgbClr val="FFFFFF"/>
                </a:highlight>
                <a:latin typeface="Roboto"/>
                <a:ea typeface="Roboto"/>
                <a:cs typeface="Roboto"/>
                <a:sym typeface="Roboto"/>
              </a:rPr>
              <a:t>Изменение</a:t>
            </a:r>
            <a:r>
              <a:rPr lang="ru" sz="1200">
                <a:highlight>
                  <a:srgbClr val="FFFFFF"/>
                </a:highlight>
                <a:latin typeface="Roboto Light"/>
                <a:ea typeface="Roboto Light"/>
                <a:cs typeface="Roboto Light"/>
                <a:sym typeface="Roboto Light"/>
              </a:rPr>
              <a:t> – счетчик изменяется с каждой итерацией (по шагу range) </a:t>
            </a:r>
            <a:endParaRPr sz="1200">
              <a:highlight>
                <a:srgbClr val="FFFFFF"/>
              </a:highlight>
              <a:latin typeface="Roboto Light"/>
              <a:ea typeface="Roboto Light"/>
              <a:cs typeface="Roboto Light"/>
              <a:sym typeface="Roboto Light"/>
            </a:endParaRPr>
          </a:p>
          <a:p>
            <a:pPr indent="-171450" lvl="0" marL="269999" rtl="0" algn="l">
              <a:lnSpc>
                <a:spcPct val="115000"/>
              </a:lnSpc>
              <a:spcBef>
                <a:spcPts val="0"/>
              </a:spcBef>
              <a:spcAft>
                <a:spcPts val="0"/>
              </a:spcAft>
              <a:buSzPts val="1200"/>
              <a:buFont typeface="Roboto Light"/>
              <a:buAutoNum type="arabicPeriod"/>
            </a:pPr>
            <a:r>
              <a:rPr lang="ru" sz="1200">
                <a:highlight>
                  <a:srgbClr val="FFFFFF"/>
                </a:highlight>
                <a:latin typeface="Roboto"/>
                <a:ea typeface="Roboto"/>
                <a:cs typeface="Roboto"/>
                <a:sym typeface="Roboto"/>
              </a:rPr>
              <a:t>Область видимости</a:t>
            </a:r>
            <a:r>
              <a:rPr lang="ru" sz="1200">
                <a:highlight>
                  <a:srgbClr val="FFFFFF"/>
                </a:highlight>
                <a:latin typeface="Roboto Light"/>
                <a:ea typeface="Roboto Light"/>
                <a:cs typeface="Roboto Light"/>
                <a:sym typeface="Roboto Light"/>
              </a:rPr>
              <a:t> – после цикла счетчик все еще существует со своим последним значением</a:t>
            </a:r>
            <a:endParaRPr sz="1200">
              <a:highlight>
                <a:srgbClr val="FFFFFF"/>
              </a:highlight>
              <a:latin typeface="Roboto"/>
              <a:ea typeface="Roboto"/>
              <a:cs typeface="Roboto"/>
              <a:sym typeface="Roboto"/>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sp>
        <p:nvSpPr>
          <p:cNvPr id="105" name="Google Shape;105;p19"/>
          <p:cNvSpPr txBox="1"/>
          <p:nvPr/>
        </p:nvSpPr>
        <p:spPr>
          <a:xfrm>
            <a:off x="323150" y="3896975"/>
            <a:ext cx="7839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200">
                <a:highlight>
                  <a:srgbClr val="FFFF00"/>
                </a:highlight>
                <a:latin typeface="Roboto Light"/>
                <a:ea typeface="Roboto Light"/>
                <a:cs typeface="Roboto Light"/>
                <a:sym typeface="Roboto Light"/>
              </a:rPr>
              <a:t>Важно!</a:t>
            </a:r>
            <a:endParaRPr sz="1200">
              <a:highlight>
                <a:srgbClr val="FFFF00"/>
              </a:highlight>
              <a:latin typeface="Roboto Light"/>
              <a:ea typeface="Roboto Light"/>
              <a:cs typeface="Roboto Light"/>
              <a:sym typeface="Roboto Light"/>
            </a:endParaRPr>
          </a:p>
          <a:p>
            <a:pPr indent="-171450" lvl="0" marL="180000" rtl="0" algn="l">
              <a:spcBef>
                <a:spcPts val="0"/>
              </a:spcBef>
              <a:spcAft>
                <a:spcPts val="0"/>
              </a:spcAft>
              <a:buSzPts val="1200"/>
              <a:buFont typeface="Roboto Light"/>
              <a:buChar char="●"/>
            </a:pPr>
            <a:r>
              <a:rPr lang="ru" sz="1200">
                <a:latin typeface="Roboto Light"/>
                <a:ea typeface="Roboto Light"/>
                <a:cs typeface="Roboto Light"/>
                <a:sym typeface="Roboto Light"/>
              </a:rPr>
              <a:t>если значение используется — пишем i, j, k и т.п.;</a:t>
            </a:r>
            <a:endParaRPr sz="1200">
              <a:latin typeface="Roboto Light"/>
              <a:ea typeface="Roboto Light"/>
              <a:cs typeface="Roboto Light"/>
              <a:sym typeface="Roboto Light"/>
            </a:endParaRPr>
          </a:p>
          <a:p>
            <a:pPr indent="-171450" lvl="0" marL="180000" rtl="0" algn="l">
              <a:spcBef>
                <a:spcPts val="0"/>
              </a:spcBef>
              <a:spcAft>
                <a:spcPts val="0"/>
              </a:spcAft>
              <a:buSzPts val="1200"/>
              <a:buFont typeface="Roboto Light"/>
              <a:buChar char="●"/>
            </a:pPr>
            <a:r>
              <a:rPr lang="ru" sz="1200" u="sng">
                <a:latin typeface="Roboto Light"/>
                <a:ea typeface="Roboto Light"/>
                <a:cs typeface="Roboto Light"/>
                <a:sym typeface="Roboto Light"/>
              </a:rPr>
              <a:t>если не используется</a:t>
            </a:r>
            <a:r>
              <a:rPr lang="ru" sz="1200">
                <a:latin typeface="Roboto Light"/>
                <a:ea typeface="Roboto Light"/>
                <a:cs typeface="Roboto Light"/>
                <a:sym typeface="Roboto Light"/>
              </a:rPr>
              <a:t> — лучше использовать </a:t>
            </a:r>
            <a:r>
              <a:rPr lang="ru" sz="1200">
                <a:latin typeface="Roboto"/>
                <a:ea typeface="Roboto"/>
                <a:cs typeface="Roboto"/>
                <a:sym typeface="Roboto"/>
              </a:rPr>
              <a:t>_ </a:t>
            </a:r>
            <a:r>
              <a:rPr lang="ru" sz="1200">
                <a:latin typeface="Roboto Light"/>
                <a:ea typeface="Roboto Light"/>
                <a:cs typeface="Roboto Light"/>
                <a:sym typeface="Roboto Light"/>
              </a:rPr>
              <a:t>, </a:t>
            </a:r>
            <a:r>
              <a:rPr lang="ru" sz="1200">
                <a:latin typeface="Roboto Light"/>
                <a:ea typeface="Roboto Light"/>
                <a:cs typeface="Roboto Light"/>
                <a:sym typeface="Roboto Light"/>
              </a:rPr>
              <a:t>«значение не важно, оно не используется».</a:t>
            </a:r>
            <a:endParaRPr sz="1200">
              <a:latin typeface="Roboto Light"/>
              <a:ea typeface="Roboto Light"/>
              <a:cs typeface="Roboto Light"/>
              <a:sym typeface="Roboto Light"/>
            </a:endParaRPr>
          </a:p>
        </p:txBody>
      </p:sp>
      <p:pic>
        <p:nvPicPr>
          <p:cNvPr id="106" name="Google Shape;106;p19"/>
          <p:cNvPicPr preferRelativeResize="0"/>
          <p:nvPr/>
        </p:nvPicPr>
        <p:blipFill>
          <a:blip r:embed="rId3">
            <a:alphaModFix/>
          </a:blip>
          <a:stretch>
            <a:fillRect/>
          </a:stretch>
        </p:blipFill>
        <p:spPr>
          <a:xfrm>
            <a:off x="7172150" y="1170125"/>
            <a:ext cx="1819451" cy="18194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Переменная цикла. Счетчик цикла (i, j, k)</a:t>
            </a:r>
            <a:endParaRPr sz="2500"/>
          </a:p>
        </p:txBody>
      </p:sp>
      <p:sp>
        <p:nvSpPr>
          <p:cNvPr id="112" name="Google Shape;112;p20"/>
          <p:cNvSpPr txBox="1"/>
          <p:nvPr/>
        </p:nvSpPr>
        <p:spPr>
          <a:xfrm>
            <a:off x="323150" y="1142000"/>
            <a:ext cx="4971300" cy="36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Рассмотрим следующий код:</a:t>
            </a:r>
            <a:endParaRPr sz="1200">
              <a:highlight>
                <a:srgbClr val="FFFFFF"/>
              </a:highlight>
              <a:latin typeface="Roboto"/>
              <a:ea typeface="Roboto"/>
              <a:cs typeface="Roboto"/>
              <a:sym typeface="Roboto"/>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sp>
        <p:nvSpPr>
          <p:cNvPr id="113" name="Google Shape;113;p20"/>
          <p:cNvSpPr txBox="1"/>
          <p:nvPr/>
        </p:nvSpPr>
        <p:spPr>
          <a:xfrm>
            <a:off x="323150" y="2570500"/>
            <a:ext cx="4300800" cy="133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Light"/>
                <a:ea typeface="Roboto Light"/>
                <a:cs typeface="Roboto Light"/>
                <a:sym typeface="Roboto Light"/>
              </a:rPr>
              <a:t>Когда цикл впервые начинает работу Python устанавливает значение переменной цикла </a:t>
            </a:r>
            <a:r>
              <a:rPr lang="ru" sz="1200">
                <a:highlight>
                  <a:srgbClr val="FFFFFF"/>
                </a:highlight>
                <a:latin typeface="Roboto"/>
                <a:ea typeface="Roboto"/>
                <a:cs typeface="Roboto"/>
                <a:sym typeface="Roboto"/>
              </a:rPr>
              <a:t>i = 0</a:t>
            </a:r>
            <a:r>
              <a:rPr lang="ru" sz="1200">
                <a:highlight>
                  <a:srgbClr val="FFFFFF"/>
                </a:highlight>
                <a:latin typeface="Roboto Light"/>
                <a:ea typeface="Roboto Light"/>
                <a:cs typeface="Roboto Light"/>
                <a:sym typeface="Roboto Light"/>
              </a:rPr>
              <a:t>. </a:t>
            </a:r>
            <a:br>
              <a:rPr lang="ru" sz="1200">
                <a:highlight>
                  <a:srgbClr val="FFFFFF"/>
                </a:highlight>
                <a:latin typeface="Roboto Light"/>
                <a:ea typeface="Roboto Light"/>
                <a:cs typeface="Roboto Light"/>
                <a:sym typeface="Roboto Light"/>
              </a:rPr>
            </a:b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rPr lang="ru" sz="1200">
                <a:highlight>
                  <a:srgbClr val="FFFFFF"/>
                </a:highlight>
                <a:latin typeface="Roboto Light"/>
                <a:ea typeface="Roboto Light"/>
                <a:cs typeface="Roboto Light"/>
                <a:sym typeface="Roboto Light"/>
              </a:rPr>
              <a:t>Каждый раз когда мы повторяем тело цикла Python </a:t>
            </a:r>
            <a:r>
              <a:rPr lang="ru" sz="1200">
                <a:highlight>
                  <a:srgbClr val="FFFFFF"/>
                </a:highlight>
                <a:latin typeface="Roboto"/>
                <a:ea typeface="Roboto"/>
                <a:cs typeface="Roboto"/>
                <a:sym typeface="Roboto"/>
              </a:rPr>
              <a:t>увеличивает значение переменной на 1.</a:t>
            </a:r>
            <a:endParaRPr sz="1200">
              <a:highlight>
                <a:srgbClr val="FFFFFF"/>
              </a:highlight>
              <a:latin typeface="Roboto"/>
              <a:ea typeface="Roboto"/>
              <a:cs typeface="Roboto"/>
              <a:sym typeface="Roboto"/>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pic>
        <p:nvPicPr>
          <p:cNvPr id="114" name="Google Shape;114;p20"/>
          <p:cNvPicPr preferRelativeResize="0"/>
          <p:nvPr/>
        </p:nvPicPr>
        <p:blipFill>
          <a:blip r:embed="rId3">
            <a:alphaModFix/>
          </a:blip>
          <a:stretch>
            <a:fillRect/>
          </a:stretch>
        </p:blipFill>
        <p:spPr>
          <a:xfrm>
            <a:off x="3674150" y="1672050"/>
            <a:ext cx="1412660" cy="572700"/>
          </a:xfrm>
          <a:prstGeom prst="rect">
            <a:avLst/>
          </a:prstGeom>
          <a:noFill/>
          <a:ln>
            <a:noFill/>
          </a:ln>
        </p:spPr>
      </p:pic>
      <p:pic>
        <p:nvPicPr>
          <p:cNvPr id="115" name="Google Shape;115;p20"/>
          <p:cNvPicPr preferRelativeResize="0"/>
          <p:nvPr/>
        </p:nvPicPr>
        <p:blipFill>
          <a:blip r:embed="rId4">
            <a:alphaModFix/>
          </a:blip>
          <a:stretch>
            <a:fillRect/>
          </a:stretch>
        </p:blipFill>
        <p:spPr>
          <a:xfrm>
            <a:off x="311700" y="1576175"/>
            <a:ext cx="3012832" cy="764450"/>
          </a:xfrm>
          <a:prstGeom prst="rect">
            <a:avLst/>
          </a:prstGeom>
          <a:noFill/>
          <a:ln>
            <a:noFill/>
          </a:ln>
        </p:spPr>
      </p:pic>
      <p:pic>
        <p:nvPicPr>
          <p:cNvPr id="116" name="Google Shape;116;p20"/>
          <p:cNvPicPr preferRelativeResize="0"/>
          <p:nvPr/>
        </p:nvPicPr>
        <p:blipFill>
          <a:blip r:embed="rId5">
            <a:alphaModFix/>
          </a:blip>
          <a:stretch>
            <a:fillRect/>
          </a:stretch>
        </p:blipFill>
        <p:spPr>
          <a:xfrm>
            <a:off x="5436425" y="1142000"/>
            <a:ext cx="962025" cy="381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Переменная цикла</a:t>
            </a:r>
            <a:endParaRPr sz="2500"/>
          </a:p>
        </p:txBody>
      </p:sp>
      <p:sp>
        <p:nvSpPr>
          <p:cNvPr id="122" name="Google Shape;122;p21"/>
          <p:cNvSpPr txBox="1"/>
          <p:nvPr/>
        </p:nvSpPr>
        <p:spPr>
          <a:xfrm>
            <a:off x="323150" y="1320675"/>
            <a:ext cx="4734900" cy="79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Light"/>
                <a:ea typeface="Roboto Light"/>
                <a:cs typeface="Roboto Light"/>
                <a:sym typeface="Roboto Light"/>
              </a:rPr>
              <a:t>Поскольку переменная цикла </a:t>
            </a:r>
            <a:r>
              <a:rPr lang="ru" sz="1200">
                <a:highlight>
                  <a:srgbClr val="FFFFFF"/>
                </a:highlight>
                <a:latin typeface="Roboto"/>
                <a:ea typeface="Roboto"/>
                <a:cs typeface="Roboto"/>
                <a:sym typeface="Roboto"/>
              </a:rPr>
              <a:t>i</a:t>
            </a:r>
            <a:r>
              <a:rPr lang="ru" sz="1200">
                <a:highlight>
                  <a:srgbClr val="FFFFFF"/>
                </a:highlight>
                <a:latin typeface="Roboto Light"/>
                <a:ea typeface="Roboto Light"/>
                <a:cs typeface="Roboto Light"/>
                <a:sym typeface="Roboto Light"/>
              </a:rPr>
              <a:t> увеличивается на 1 каждый раз, то ее можно использовать для отслеживания номера итерации, на которой мы находимся в циклическом процессе.</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pic>
        <p:nvPicPr>
          <p:cNvPr id="123" name="Google Shape;123;p21"/>
          <p:cNvPicPr preferRelativeResize="0"/>
          <p:nvPr/>
        </p:nvPicPr>
        <p:blipFill>
          <a:blip r:embed="rId3">
            <a:alphaModFix/>
          </a:blip>
          <a:stretch>
            <a:fillRect/>
          </a:stretch>
        </p:blipFill>
        <p:spPr>
          <a:xfrm>
            <a:off x="311700" y="2415625"/>
            <a:ext cx="4572543" cy="764450"/>
          </a:xfrm>
          <a:prstGeom prst="rect">
            <a:avLst/>
          </a:prstGeom>
          <a:noFill/>
          <a:ln>
            <a:noFill/>
          </a:ln>
        </p:spPr>
      </p:pic>
      <p:pic>
        <p:nvPicPr>
          <p:cNvPr id="124" name="Google Shape;124;p21"/>
          <p:cNvPicPr preferRelativeResize="0"/>
          <p:nvPr/>
        </p:nvPicPr>
        <p:blipFill rotWithShape="1">
          <a:blip r:embed="rId4">
            <a:alphaModFix/>
          </a:blip>
          <a:srcRect b="0" l="0" r="32194" t="0"/>
          <a:stretch/>
        </p:blipFill>
        <p:spPr>
          <a:xfrm>
            <a:off x="6023950" y="1143875"/>
            <a:ext cx="2563850" cy="3790625"/>
          </a:xfrm>
          <a:prstGeom prst="rect">
            <a:avLst/>
          </a:prstGeom>
          <a:noFill/>
          <a:ln>
            <a:noFill/>
          </a:ln>
        </p:spPr>
      </p:pic>
      <p:pic>
        <p:nvPicPr>
          <p:cNvPr id="125" name="Google Shape;125;p21"/>
          <p:cNvPicPr preferRelativeResize="0"/>
          <p:nvPr/>
        </p:nvPicPr>
        <p:blipFill>
          <a:blip r:embed="rId5">
            <a:alphaModFix/>
          </a:blip>
          <a:stretch>
            <a:fillRect/>
          </a:stretch>
        </p:blipFill>
        <p:spPr>
          <a:xfrm>
            <a:off x="5258038" y="2581600"/>
            <a:ext cx="392125" cy="432500"/>
          </a:xfrm>
          <a:prstGeom prst="rect">
            <a:avLst/>
          </a:prstGeom>
          <a:noFill/>
          <a:ln>
            <a:noFill/>
          </a:ln>
        </p:spPr>
      </p:pic>
      <p:sp>
        <p:nvSpPr>
          <p:cNvPr id="126" name="Google Shape;126;p21"/>
          <p:cNvSpPr txBox="1"/>
          <p:nvPr/>
        </p:nvSpPr>
        <p:spPr>
          <a:xfrm>
            <a:off x="323150" y="3618375"/>
            <a:ext cx="3560700" cy="79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00"/>
                </a:highlight>
                <a:latin typeface="Roboto Light"/>
                <a:ea typeface="Roboto Light"/>
                <a:cs typeface="Roboto Light"/>
                <a:sym typeface="Roboto Light"/>
              </a:rPr>
              <a:t>Обратите внимание</a:t>
            </a:r>
            <a:r>
              <a:rPr lang="ru" sz="1200">
                <a:highlight>
                  <a:srgbClr val="FFFFFF"/>
                </a:highlight>
                <a:latin typeface="Roboto Light"/>
                <a:ea typeface="Roboto Light"/>
                <a:cs typeface="Roboto Light"/>
                <a:sym typeface="Roboto Light"/>
              </a:rPr>
              <a:t>, за счет выражения </a:t>
            </a:r>
            <a:r>
              <a:rPr lang="ru" sz="1200">
                <a:highlight>
                  <a:srgbClr val="FFFFFF"/>
                </a:highlight>
                <a:latin typeface="Roboto"/>
                <a:ea typeface="Roboto"/>
                <a:cs typeface="Roboto"/>
                <a:sym typeface="Roboto"/>
              </a:rPr>
              <a:t>i + 1</a:t>
            </a:r>
            <a:r>
              <a:rPr lang="ru" sz="1200">
                <a:highlight>
                  <a:srgbClr val="FFFFFF"/>
                </a:highlight>
                <a:latin typeface="Roboto Light"/>
                <a:ea typeface="Roboto Light"/>
                <a:cs typeface="Roboto Light"/>
                <a:sym typeface="Roboto Light"/>
              </a:rPr>
              <a:t>, мы начинаем вывод с 1, а не с 0.</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Функция range с одним параметром</a:t>
            </a:r>
            <a:endParaRPr sz="2500"/>
          </a:p>
        </p:txBody>
      </p:sp>
      <p:sp>
        <p:nvSpPr>
          <p:cNvPr id="132" name="Google Shape;132;p22"/>
          <p:cNvSpPr txBox="1"/>
          <p:nvPr/>
        </p:nvSpPr>
        <p:spPr>
          <a:xfrm>
            <a:off x="323138" y="3842350"/>
            <a:ext cx="4203300" cy="79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ru" sz="1200">
                <a:latin typeface="Roboto Light"/>
                <a:ea typeface="Roboto Light"/>
                <a:cs typeface="Roboto Light"/>
                <a:sym typeface="Roboto Light"/>
              </a:rPr>
              <a:t>Функция </a:t>
            </a:r>
            <a:r>
              <a:rPr lang="ru" sz="1200">
                <a:latin typeface="Roboto"/>
                <a:ea typeface="Roboto"/>
                <a:cs typeface="Roboto"/>
                <a:sym typeface="Roboto"/>
              </a:rPr>
              <a:t>range(n) </a:t>
            </a:r>
            <a:r>
              <a:rPr lang="ru" sz="1200">
                <a:latin typeface="Roboto Light"/>
                <a:ea typeface="Roboto Light"/>
                <a:cs typeface="Roboto Light"/>
                <a:sym typeface="Roboto Light"/>
              </a:rPr>
              <a:t>генерирует последовательность чисел </a:t>
            </a:r>
            <a:r>
              <a:rPr lang="ru" sz="1200">
                <a:latin typeface="Roboto"/>
                <a:ea typeface="Roboto"/>
                <a:cs typeface="Roboto"/>
                <a:sym typeface="Roboto"/>
              </a:rPr>
              <a:t>от 0 до n-1</a:t>
            </a:r>
            <a:r>
              <a:rPr lang="ru" sz="1200">
                <a:latin typeface="Roboto Light"/>
                <a:ea typeface="Roboto Light"/>
                <a:cs typeface="Roboto Light"/>
                <a:sym typeface="Roboto Light"/>
              </a:rPr>
              <a:t>, а </a:t>
            </a:r>
            <a:r>
              <a:rPr lang="ru" sz="1200">
                <a:latin typeface="Roboto"/>
                <a:ea typeface="Roboto"/>
                <a:cs typeface="Roboto"/>
                <a:sym typeface="Roboto"/>
              </a:rPr>
              <a:t>цикл for </a:t>
            </a:r>
            <a:r>
              <a:rPr lang="ru" sz="1200">
                <a:latin typeface="Roboto Light"/>
                <a:ea typeface="Roboto Light"/>
                <a:cs typeface="Roboto Light"/>
                <a:sym typeface="Roboto Light"/>
              </a:rPr>
              <a:t>последовательно перебирает эту последовательность.</a:t>
            </a:r>
            <a:endParaRPr sz="1200">
              <a:latin typeface="Roboto Light"/>
              <a:ea typeface="Roboto Light"/>
              <a:cs typeface="Roboto Light"/>
              <a:sym typeface="Roboto Light"/>
            </a:endParaRPr>
          </a:p>
        </p:txBody>
      </p:sp>
      <p:pic>
        <p:nvPicPr>
          <p:cNvPr id="133" name="Google Shape;133;p22"/>
          <p:cNvPicPr preferRelativeResize="0"/>
          <p:nvPr/>
        </p:nvPicPr>
        <p:blipFill>
          <a:blip r:embed="rId3">
            <a:alphaModFix/>
          </a:blip>
          <a:stretch>
            <a:fillRect/>
          </a:stretch>
        </p:blipFill>
        <p:spPr>
          <a:xfrm>
            <a:off x="5115375" y="1503738"/>
            <a:ext cx="1819275" cy="847725"/>
          </a:xfrm>
          <a:prstGeom prst="rect">
            <a:avLst/>
          </a:prstGeom>
          <a:noFill/>
          <a:ln>
            <a:noFill/>
          </a:ln>
        </p:spPr>
      </p:pic>
      <p:pic>
        <p:nvPicPr>
          <p:cNvPr id="134" name="Google Shape;134;p22"/>
          <p:cNvPicPr preferRelativeResize="0"/>
          <p:nvPr/>
        </p:nvPicPr>
        <p:blipFill>
          <a:blip r:embed="rId4">
            <a:alphaModFix/>
          </a:blip>
          <a:stretch>
            <a:fillRect/>
          </a:stretch>
        </p:blipFill>
        <p:spPr>
          <a:xfrm>
            <a:off x="7719113" y="1503738"/>
            <a:ext cx="781050" cy="1466850"/>
          </a:xfrm>
          <a:prstGeom prst="rect">
            <a:avLst/>
          </a:prstGeom>
          <a:noFill/>
          <a:ln>
            <a:noFill/>
          </a:ln>
        </p:spPr>
      </p:pic>
      <p:pic>
        <p:nvPicPr>
          <p:cNvPr id="135" name="Google Shape;135;p22"/>
          <p:cNvPicPr preferRelativeResize="0"/>
          <p:nvPr/>
        </p:nvPicPr>
        <p:blipFill>
          <a:blip r:embed="rId5">
            <a:alphaModFix/>
          </a:blip>
          <a:stretch>
            <a:fillRect/>
          </a:stretch>
        </p:blipFill>
        <p:spPr>
          <a:xfrm>
            <a:off x="7130813" y="1669662"/>
            <a:ext cx="392125" cy="432500"/>
          </a:xfrm>
          <a:prstGeom prst="rect">
            <a:avLst/>
          </a:prstGeom>
          <a:noFill/>
          <a:ln>
            <a:noFill/>
          </a:ln>
        </p:spPr>
      </p:pic>
      <p:sp>
        <p:nvSpPr>
          <p:cNvPr id="136" name="Google Shape;136;p22"/>
          <p:cNvSpPr txBox="1"/>
          <p:nvPr/>
        </p:nvSpPr>
        <p:spPr>
          <a:xfrm>
            <a:off x="5036300" y="3130425"/>
            <a:ext cx="3948600" cy="97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00"/>
                </a:highlight>
                <a:latin typeface="Roboto Light"/>
                <a:ea typeface="Roboto Light"/>
                <a:cs typeface="Roboto Light"/>
                <a:sym typeface="Roboto Light"/>
              </a:rPr>
              <a:t>Важно! </a:t>
            </a:r>
            <a:endParaRPr sz="1200">
              <a:highlight>
                <a:srgbClr val="FFFF00"/>
              </a:highlight>
              <a:latin typeface="Roboto Light"/>
              <a:ea typeface="Roboto Light"/>
              <a:cs typeface="Roboto Light"/>
              <a:sym typeface="Roboto Light"/>
            </a:endParaRPr>
          </a:p>
          <a:p>
            <a:pPr indent="0" lvl="0" marL="0" rtl="0" algn="l">
              <a:lnSpc>
                <a:spcPct val="115000"/>
              </a:lnSpc>
              <a:spcBef>
                <a:spcPts val="0"/>
              </a:spcBef>
              <a:spcAft>
                <a:spcPts val="0"/>
              </a:spcAft>
              <a:buNone/>
            </a:pPr>
            <a:r>
              <a:rPr lang="ru" sz="1200">
                <a:latin typeface="Roboto Light"/>
                <a:ea typeface="Roboto Light"/>
                <a:cs typeface="Roboto Light"/>
                <a:sym typeface="Roboto Light"/>
              </a:rPr>
              <a:t>range(): конечное значение </a:t>
            </a:r>
            <a:r>
              <a:rPr lang="ru" sz="1200">
                <a:latin typeface="Roboto"/>
                <a:ea typeface="Roboto"/>
                <a:cs typeface="Roboto"/>
                <a:sym typeface="Roboto"/>
              </a:rPr>
              <a:t>ВСЕГДА</a:t>
            </a:r>
            <a:r>
              <a:rPr lang="ru" sz="1200">
                <a:latin typeface="Roboto Light"/>
                <a:ea typeface="Roboto Light"/>
                <a:cs typeface="Roboto Light"/>
                <a:sym typeface="Roboto Light"/>
              </a:rPr>
              <a:t> исключается. </a:t>
            </a:r>
            <a:endParaRPr sz="1200">
              <a:latin typeface="Roboto Light"/>
              <a:ea typeface="Roboto Light"/>
              <a:cs typeface="Roboto Light"/>
              <a:sym typeface="Roboto Light"/>
            </a:endParaRPr>
          </a:p>
          <a:p>
            <a:pPr indent="0" lvl="0" marL="0" rtl="0" algn="l">
              <a:lnSpc>
                <a:spcPct val="115000"/>
              </a:lnSpc>
              <a:spcBef>
                <a:spcPts val="0"/>
              </a:spcBef>
              <a:spcAft>
                <a:spcPts val="0"/>
              </a:spcAft>
              <a:buNone/>
            </a:pPr>
            <a:r>
              <a:rPr lang="ru" sz="1200">
                <a:latin typeface="Roboto Light"/>
                <a:ea typeface="Roboto Light"/>
                <a:cs typeface="Roboto Light"/>
                <a:sym typeface="Roboto Light"/>
              </a:rPr>
              <a:t>Это одна из самых частых ошибок начинающих программистов.</a:t>
            </a:r>
            <a:endParaRPr sz="1200">
              <a:latin typeface="Roboto Light"/>
              <a:ea typeface="Roboto Light"/>
              <a:cs typeface="Roboto Light"/>
              <a:sym typeface="Roboto Light"/>
            </a:endParaRPr>
          </a:p>
        </p:txBody>
      </p:sp>
      <p:pic>
        <p:nvPicPr>
          <p:cNvPr id="137" name="Google Shape;137;p22"/>
          <p:cNvPicPr preferRelativeResize="0"/>
          <p:nvPr/>
        </p:nvPicPr>
        <p:blipFill>
          <a:blip r:embed="rId6">
            <a:alphaModFix/>
          </a:blip>
          <a:stretch>
            <a:fillRect/>
          </a:stretch>
        </p:blipFill>
        <p:spPr>
          <a:xfrm>
            <a:off x="259375" y="1017725"/>
            <a:ext cx="4776924" cy="28246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500">
                <a:latin typeface="Century Gothic"/>
                <a:ea typeface="Century Gothic"/>
                <a:cs typeface="Century Gothic"/>
                <a:sym typeface="Century Gothic"/>
              </a:rPr>
              <a:t>Функция range с двумя параметрами (начало, конец)</a:t>
            </a:r>
            <a:endParaRPr sz="2500"/>
          </a:p>
        </p:txBody>
      </p:sp>
      <p:sp>
        <p:nvSpPr>
          <p:cNvPr id="143" name="Google Shape;143;p23"/>
          <p:cNvSpPr txBox="1"/>
          <p:nvPr/>
        </p:nvSpPr>
        <p:spPr>
          <a:xfrm>
            <a:off x="323150" y="3922450"/>
            <a:ext cx="4570800" cy="75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latin typeface="Roboto Light"/>
                <a:ea typeface="Roboto Light"/>
                <a:cs typeface="Roboto Light"/>
                <a:sym typeface="Roboto Light"/>
              </a:rPr>
              <a:t>Функция</a:t>
            </a:r>
            <a:r>
              <a:rPr lang="ru" sz="1200">
                <a:latin typeface="Roboto"/>
                <a:ea typeface="Roboto"/>
                <a:cs typeface="Roboto"/>
                <a:sym typeface="Roboto"/>
              </a:rPr>
              <a:t> range(n, m)</a:t>
            </a:r>
            <a:r>
              <a:rPr lang="ru" sz="1200">
                <a:latin typeface="Roboto Light"/>
                <a:ea typeface="Roboto Light"/>
                <a:cs typeface="Roboto Light"/>
                <a:sym typeface="Roboto Light"/>
              </a:rPr>
              <a:t> генерирует последовательность чисел </a:t>
            </a:r>
            <a:br>
              <a:rPr lang="ru" sz="1200">
                <a:latin typeface="Roboto Light"/>
                <a:ea typeface="Roboto Light"/>
                <a:cs typeface="Roboto Light"/>
                <a:sym typeface="Roboto Light"/>
              </a:rPr>
            </a:br>
            <a:r>
              <a:rPr lang="ru" sz="1200">
                <a:latin typeface="Roboto"/>
                <a:ea typeface="Roboto"/>
                <a:cs typeface="Roboto"/>
                <a:sym typeface="Roboto"/>
              </a:rPr>
              <a:t>от n до m-1 с шагом 1</a:t>
            </a:r>
            <a:r>
              <a:rPr lang="ru" sz="1200">
                <a:latin typeface="Roboto Light"/>
                <a:ea typeface="Roboto Light"/>
                <a:cs typeface="Roboto Light"/>
                <a:sym typeface="Roboto Light"/>
              </a:rPr>
              <a:t>, а цикл for последовательно перебирает эту последовательность.</a:t>
            </a:r>
            <a:endParaRPr sz="1200">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latin typeface="Roboto Light"/>
              <a:ea typeface="Roboto Light"/>
              <a:cs typeface="Roboto Light"/>
              <a:sym typeface="Roboto Light"/>
            </a:endParaRPr>
          </a:p>
        </p:txBody>
      </p:sp>
      <p:pic>
        <p:nvPicPr>
          <p:cNvPr id="144" name="Google Shape;144;p23"/>
          <p:cNvPicPr preferRelativeResize="0"/>
          <p:nvPr/>
        </p:nvPicPr>
        <p:blipFill>
          <a:blip r:embed="rId3">
            <a:alphaModFix/>
          </a:blip>
          <a:stretch>
            <a:fillRect/>
          </a:stretch>
        </p:blipFill>
        <p:spPr>
          <a:xfrm>
            <a:off x="7143463" y="1775887"/>
            <a:ext cx="392125" cy="432500"/>
          </a:xfrm>
          <a:prstGeom prst="rect">
            <a:avLst/>
          </a:prstGeom>
          <a:noFill/>
          <a:ln>
            <a:noFill/>
          </a:ln>
        </p:spPr>
      </p:pic>
      <p:pic>
        <p:nvPicPr>
          <p:cNvPr id="145" name="Google Shape;145;p23"/>
          <p:cNvPicPr preferRelativeResize="0"/>
          <p:nvPr/>
        </p:nvPicPr>
        <p:blipFill>
          <a:blip r:embed="rId4">
            <a:alphaModFix/>
          </a:blip>
          <a:stretch>
            <a:fillRect/>
          </a:stretch>
        </p:blipFill>
        <p:spPr>
          <a:xfrm>
            <a:off x="5054875" y="1568263"/>
            <a:ext cx="1971675" cy="847725"/>
          </a:xfrm>
          <a:prstGeom prst="rect">
            <a:avLst/>
          </a:prstGeom>
          <a:noFill/>
          <a:ln>
            <a:noFill/>
          </a:ln>
        </p:spPr>
      </p:pic>
      <p:pic>
        <p:nvPicPr>
          <p:cNvPr id="146" name="Google Shape;146;p23"/>
          <p:cNvPicPr preferRelativeResize="0"/>
          <p:nvPr/>
        </p:nvPicPr>
        <p:blipFill>
          <a:blip r:embed="rId5">
            <a:alphaModFix/>
          </a:blip>
          <a:stretch>
            <a:fillRect/>
          </a:stretch>
        </p:blipFill>
        <p:spPr>
          <a:xfrm>
            <a:off x="7652525" y="1568275"/>
            <a:ext cx="571500" cy="1257300"/>
          </a:xfrm>
          <a:prstGeom prst="rect">
            <a:avLst/>
          </a:prstGeom>
          <a:noFill/>
          <a:ln>
            <a:noFill/>
          </a:ln>
        </p:spPr>
      </p:pic>
      <p:pic>
        <p:nvPicPr>
          <p:cNvPr id="147" name="Google Shape;147;p23"/>
          <p:cNvPicPr preferRelativeResize="0"/>
          <p:nvPr/>
        </p:nvPicPr>
        <p:blipFill>
          <a:blip r:embed="rId6">
            <a:alphaModFix/>
          </a:blip>
          <a:stretch>
            <a:fillRect/>
          </a:stretch>
        </p:blipFill>
        <p:spPr>
          <a:xfrm>
            <a:off x="269850" y="1017725"/>
            <a:ext cx="4218775" cy="29047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150">
                <a:latin typeface="Century Gothic"/>
                <a:ea typeface="Century Gothic"/>
                <a:cs typeface="Century Gothic"/>
                <a:sym typeface="Century Gothic"/>
              </a:rPr>
              <a:t>Функция range с тремя параметрами (начало, конец, шаг)</a:t>
            </a:r>
            <a:endParaRPr sz="2150"/>
          </a:p>
        </p:txBody>
      </p:sp>
      <p:sp>
        <p:nvSpPr>
          <p:cNvPr id="153" name="Google Shape;153;p24"/>
          <p:cNvSpPr txBox="1"/>
          <p:nvPr/>
        </p:nvSpPr>
        <p:spPr>
          <a:xfrm>
            <a:off x="311700" y="3746800"/>
            <a:ext cx="4570800" cy="78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latin typeface="Roboto Light"/>
                <a:ea typeface="Roboto Light"/>
                <a:cs typeface="Roboto Light"/>
                <a:sym typeface="Roboto Light"/>
              </a:rPr>
              <a:t>Функция </a:t>
            </a:r>
            <a:r>
              <a:rPr lang="ru" sz="1200">
                <a:latin typeface="Roboto"/>
                <a:ea typeface="Roboto"/>
                <a:cs typeface="Roboto"/>
                <a:sym typeface="Roboto"/>
              </a:rPr>
              <a:t>range(n, m, k)</a:t>
            </a:r>
            <a:r>
              <a:rPr lang="ru" sz="1200">
                <a:latin typeface="Roboto Light"/>
                <a:ea typeface="Roboto Light"/>
                <a:cs typeface="Roboto Light"/>
                <a:sym typeface="Roboto Light"/>
              </a:rPr>
              <a:t> генерирует последовательность чисел </a:t>
            </a:r>
            <a:r>
              <a:rPr lang="ru" sz="1200">
                <a:latin typeface="Roboto"/>
                <a:ea typeface="Roboto"/>
                <a:cs typeface="Roboto"/>
                <a:sym typeface="Roboto"/>
              </a:rPr>
              <a:t>от n до m-1 с шагом k</a:t>
            </a:r>
            <a:r>
              <a:rPr lang="ru" sz="1200">
                <a:latin typeface="Roboto Light"/>
                <a:ea typeface="Roboto Light"/>
                <a:cs typeface="Roboto Light"/>
                <a:sym typeface="Roboto Light"/>
              </a:rPr>
              <a:t>, а цикл for последовательно перебирает эту последовательность.</a:t>
            </a:r>
            <a:endParaRPr sz="1200">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latin typeface="Roboto Light"/>
              <a:ea typeface="Roboto Light"/>
              <a:cs typeface="Roboto Light"/>
              <a:sym typeface="Roboto Light"/>
            </a:endParaRPr>
          </a:p>
        </p:txBody>
      </p:sp>
      <p:pic>
        <p:nvPicPr>
          <p:cNvPr id="154" name="Google Shape;154;p24"/>
          <p:cNvPicPr preferRelativeResize="0"/>
          <p:nvPr/>
        </p:nvPicPr>
        <p:blipFill>
          <a:blip r:embed="rId3">
            <a:alphaModFix/>
          </a:blip>
          <a:stretch>
            <a:fillRect/>
          </a:stretch>
        </p:blipFill>
        <p:spPr>
          <a:xfrm>
            <a:off x="7623263" y="3944887"/>
            <a:ext cx="392125" cy="432500"/>
          </a:xfrm>
          <a:prstGeom prst="rect">
            <a:avLst/>
          </a:prstGeom>
          <a:noFill/>
          <a:ln>
            <a:noFill/>
          </a:ln>
        </p:spPr>
      </p:pic>
      <p:pic>
        <p:nvPicPr>
          <p:cNvPr id="155" name="Google Shape;155;p24"/>
          <p:cNvPicPr preferRelativeResize="0"/>
          <p:nvPr/>
        </p:nvPicPr>
        <p:blipFill>
          <a:blip r:embed="rId4">
            <a:alphaModFix/>
          </a:blip>
          <a:stretch>
            <a:fillRect/>
          </a:stretch>
        </p:blipFill>
        <p:spPr>
          <a:xfrm>
            <a:off x="5156900" y="3746800"/>
            <a:ext cx="2286000" cy="828675"/>
          </a:xfrm>
          <a:prstGeom prst="rect">
            <a:avLst/>
          </a:prstGeom>
          <a:noFill/>
          <a:ln>
            <a:noFill/>
          </a:ln>
        </p:spPr>
      </p:pic>
      <p:pic>
        <p:nvPicPr>
          <p:cNvPr id="156" name="Google Shape;156;p24"/>
          <p:cNvPicPr preferRelativeResize="0"/>
          <p:nvPr/>
        </p:nvPicPr>
        <p:blipFill>
          <a:blip r:embed="rId5">
            <a:alphaModFix/>
          </a:blip>
          <a:stretch>
            <a:fillRect/>
          </a:stretch>
        </p:blipFill>
        <p:spPr>
          <a:xfrm>
            <a:off x="8136750" y="3746800"/>
            <a:ext cx="628650" cy="1247775"/>
          </a:xfrm>
          <a:prstGeom prst="rect">
            <a:avLst/>
          </a:prstGeom>
          <a:noFill/>
          <a:ln>
            <a:noFill/>
          </a:ln>
        </p:spPr>
      </p:pic>
      <p:pic>
        <p:nvPicPr>
          <p:cNvPr id="157" name="Google Shape;157;p24"/>
          <p:cNvPicPr preferRelativeResize="0"/>
          <p:nvPr/>
        </p:nvPicPr>
        <p:blipFill>
          <a:blip r:embed="rId6">
            <a:alphaModFix/>
          </a:blip>
          <a:stretch>
            <a:fillRect/>
          </a:stretch>
        </p:blipFill>
        <p:spPr>
          <a:xfrm>
            <a:off x="169125" y="1017725"/>
            <a:ext cx="5785876" cy="27290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Отрицательный шаг</a:t>
            </a:r>
            <a:endParaRPr sz="2500"/>
          </a:p>
        </p:txBody>
      </p:sp>
      <p:sp>
        <p:nvSpPr>
          <p:cNvPr id="163" name="Google Shape;163;p25"/>
          <p:cNvSpPr txBox="1"/>
          <p:nvPr/>
        </p:nvSpPr>
        <p:spPr>
          <a:xfrm>
            <a:off x="311727" y="3947900"/>
            <a:ext cx="4570800" cy="82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ru" sz="1200">
                <a:latin typeface="Roboto Light"/>
                <a:ea typeface="Roboto Light"/>
                <a:cs typeface="Roboto Light"/>
                <a:sym typeface="Roboto Light"/>
              </a:rPr>
              <a:t>В случае отрицательного шага, мы должны гарантировать, что</a:t>
            </a:r>
            <a:r>
              <a:rPr lang="ru" sz="1200">
                <a:latin typeface="Roboto"/>
                <a:ea typeface="Roboto"/>
                <a:cs typeface="Roboto"/>
                <a:sym typeface="Roboto"/>
              </a:rPr>
              <a:t> старт генерации (первый параметр) больше чем конец генерации (второй параметр)</a:t>
            </a:r>
            <a:r>
              <a:rPr lang="ru" sz="1200">
                <a:latin typeface="Roboto Light"/>
                <a:ea typeface="Roboto Light"/>
                <a:cs typeface="Roboto Light"/>
                <a:sym typeface="Roboto Light"/>
              </a:rPr>
              <a:t>.</a:t>
            </a:r>
            <a:endParaRPr sz="1200">
              <a:latin typeface="Roboto Light"/>
              <a:ea typeface="Roboto Light"/>
              <a:cs typeface="Roboto Light"/>
              <a:sym typeface="Roboto Light"/>
            </a:endParaRPr>
          </a:p>
        </p:txBody>
      </p:sp>
      <p:pic>
        <p:nvPicPr>
          <p:cNvPr id="164" name="Google Shape;164;p25"/>
          <p:cNvPicPr preferRelativeResize="0"/>
          <p:nvPr/>
        </p:nvPicPr>
        <p:blipFill>
          <a:blip r:embed="rId3">
            <a:alphaModFix/>
          </a:blip>
          <a:stretch>
            <a:fillRect/>
          </a:stretch>
        </p:blipFill>
        <p:spPr>
          <a:xfrm>
            <a:off x="7836225" y="4264212"/>
            <a:ext cx="392125" cy="432500"/>
          </a:xfrm>
          <a:prstGeom prst="rect">
            <a:avLst/>
          </a:prstGeom>
          <a:noFill/>
          <a:ln>
            <a:noFill/>
          </a:ln>
        </p:spPr>
      </p:pic>
      <p:pic>
        <p:nvPicPr>
          <p:cNvPr id="165" name="Google Shape;165;p25"/>
          <p:cNvPicPr preferRelativeResize="0"/>
          <p:nvPr/>
        </p:nvPicPr>
        <p:blipFill>
          <a:blip r:embed="rId4">
            <a:alphaModFix/>
          </a:blip>
          <a:stretch>
            <a:fillRect/>
          </a:stretch>
        </p:blipFill>
        <p:spPr>
          <a:xfrm>
            <a:off x="5426613" y="4066125"/>
            <a:ext cx="2333625" cy="828675"/>
          </a:xfrm>
          <a:prstGeom prst="rect">
            <a:avLst/>
          </a:prstGeom>
          <a:noFill/>
          <a:ln>
            <a:noFill/>
          </a:ln>
        </p:spPr>
      </p:pic>
      <p:pic>
        <p:nvPicPr>
          <p:cNvPr id="166" name="Google Shape;166;p25"/>
          <p:cNvPicPr preferRelativeResize="0"/>
          <p:nvPr/>
        </p:nvPicPr>
        <p:blipFill>
          <a:blip r:embed="rId5">
            <a:alphaModFix/>
          </a:blip>
          <a:stretch>
            <a:fillRect/>
          </a:stretch>
        </p:blipFill>
        <p:spPr>
          <a:xfrm>
            <a:off x="8304350" y="2932650"/>
            <a:ext cx="733425" cy="1962150"/>
          </a:xfrm>
          <a:prstGeom prst="rect">
            <a:avLst/>
          </a:prstGeom>
          <a:noFill/>
          <a:ln>
            <a:noFill/>
          </a:ln>
        </p:spPr>
      </p:pic>
      <p:pic>
        <p:nvPicPr>
          <p:cNvPr id="167" name="Google Shape;167;p25"/>
          <p:cNvPicPr preferRelativeResize="0"/>
          <p:nvPr/>
        </p:nvPicPr>
        <p:blipFill>
          <a:blip r:embed="rId6">
            <a:alphaModFix/>
          </a:blip>
          <a:stretch>
            <a:fillRect/>
          </a:stretch>
        </p:blipFill>
        <p:spPr>
          <a:xfrm>
            <a:off x="152400" y="1017725"/>
            <a:ext cx="5816673" cy="27435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Задача</a:t>
            </a:r>
            <a:endParaRPr sz="2500"/>
          </a:p>
        </p:txBody>
      </p:sp>
      <p:sp>
        <p:nvSpPr>
          <p:cNvPr id="173" name="Google Shape;173;p26"/>
          <p:cNvSpPr txBox="1"/>
          <p:nvPr/>
        </p:nvSpPr>
        <p:spPr>
          <a:xfrm>
            <a:off x="323150" y="1017725"/>
            <a:ext cx="4734900" cy="37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Какую последовательность чисел даст вызов функции?</a:t>
            </a:r>
            <a:endParaRPr sz="1200">
              <a:highlight>
                <a:srgbClr val="FFFFFF"/>
              </a:highlight>
              <a:latin typeface="Roboto"/>
              <a:ea typeface="Roboto"/>
              <a:cs typeface="Roboto"/>
              <a:sym typeface="Roboto"/>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pic>
        <p:nvPicPr>
          <p:cNvPr id="174" name="Google Shape;174;p26"/>
          <p:cNvPicPr preferRelativeResize="0"/>
          <p:nvPr/>
        </p:nvPicPr>
        <p:blipFill>
          <a:blip r:embed="rId3">
            <a:alphaModFix/>
          </a:blip>
          <a:stretch>
            <a:fillRect/>
          </a:stretch>
        </p:blipFill>
        <p:spPr>
          <a:xfrm>
            <a:off x="417125" y="1394825"/>
            <a:ext cx="4161505" cy="3504425"/>
          </a:xfrm>
          <a:prstGeom prst="rect">
            <a:avLst/>
          </a:prstGeom>
          <a:noFill/>
          <a:ln>
            <a:noFill/>
          </a:ln>
        </p:spPr>
      </p:pic>
      <p:pic>
        <p:nvPicPr>
          <p:cNvPr id="175" name="Google Shape;175;p26"/>
          <p:cNvPicPr preferRelativeResize="0"/>
          <p:nvPr/>
        </p:nvPicPr>
        <p:blipFill>
          <a:blip r:embed="rId4">
            <a:alphaModFix/>
          </a:blip>
          <a:stretch>
            <a:fillRect/>
          </a:stretch>
        </p:blipFill>
        <p:spPr>
          <a:xfrm>
            <a:off x="6678700" y="2656375"/>
            <a:ext cx="2352274" cy="23522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Задача</a:t>
            </a:r>
            <a:endParaRPr sz="2500"/>
          </a:p>
        </p:txBody>
      </p:sp>
      <p:sp>
        <p:nvSpPr>
          <p:cNvPr id="181" name="Google Shape;181;p27"/>
          <p:cNvSpPr txBox="1"/>
          <p:nvPr/>
        </p:nvSpPr>
        <p:spPr>
          <a:xfrm>
            <a:off x="311700" y="1017725"/>
            <a:ext cx="4734900" cy="37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1200">
                <a:highlight>
                  <a:srgbClr val="FFFFFF"/>
                </a:highlight>
                <a:latin typeface="Roboto"/>
                <a:ea typeface="Roboto"/>
                <a:cs typeface="Roboto"/>
                <a:sym typeface="Roboto"/>
              </a:rPr>
              <a:t>Какую последовательность чисел даст вызов функции?</a:t>
            </a:r>
            <a:endParaRPr sz="1200">
              <a:highlight>
                <a:srgbClr val="FFFFFF"/>
              </a:highlight>
              <a:latin typeface="Roboto"/>
              <a:ea typeface="Roboto"/>
              <a:cs typeface="Roboto"/>
              <a:sym typeface="Roboto"/>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0"/>
              </a:spcAft>
              <a:buNone/>
            </a:pPr>
            <a:r>
              <a:t/>
            </a:r>
            <a:endParaRPr sz="1200">
              <a:highlight>
                <a:srgbClr val="FFFFFF"/>
              </a:highlight>
              <a:latin typeface="Roboto Light"/>
              <a:ea typeface="Roboto Light"/>
              <a:cs typeface="Roboto Light"/>
              <a:sym typeface="Roboto Light"/>
            </a:endParaRPr>
          </a:p>
          <a:p>
            <a:pPr indent="0" lvl="0" marL="0" rtl="0" algn="l">
              <a:lnSpc>
                <a:spcPct val="115000"/>
              </a:lnSpc>
              <a:spcBef>
                <a:spcPts val="1000"/>
              </a:spcBef>
              <a:spcAft>
                <a:spcPts val="1000"/>
              </a:spcAft>
              <a:buNone/>
            </a:pPr>
            <a:r>
              <a:t/>
            </a:r>
            <a:endParaRPr sz="1200">
              <a:highlight>
                <a:srgbClr val="FFFFFF"/>
              </a:highlight>
              <a:latin typeface="Roboto Light"/>
              <a:ea typeface="Roboto Light"/>
              <a:cs typeface="Roboto Light"/>
              <a:sym typeface="Roboto Light"/>
            </a:endParaRPr>
          </a:p>
        </p:txBody>
      </p:sp>
      <p:pic>
        <p:nvPicPr>
          <p:cNvPr id="182" name="Google Shape;182;p27"/>
          <p:cNvPicPr preferRelativeResize="0"/>
          <p:nvPr/>
        </p:nvPicPr>
        <p:blipFill>
          <a:blip r:embed="rId3">
            <a:alphaModFix/>
          </a:blip>
          <a:stretch>
            <a:fillRect/>
          </a:stretch>
        </p:blipFill>
        <p:spPr>
          <a:xfrm>
            <a:off x="417125" y="1394825"/>
            <a:ext cx="4153725" cy="3497874"/>
          </a:xfrm>
          <a:prstGeom prst="rect">
            <a:avLst/>
          </a:prstGeom>
          <a:noFill/>
          <a:ln>
            <a:noFill/>
          </a:ln>
        </p:spPr>
      </p:pic>
      <p:pic>
        <p:nvPicPr>
          <p:cNvPr id="183" name="Google Shape;183;p27"/>
          <p:cNvPicPr preferRelativeResize="0"/>
          <p:nvPr/>
        </p:nvPicPr>
        <p:blipFill>
          <a:blip r:embed="rId4">
            <a:alphaModFix/>
          </a:blip>
          <a:stretch>
            <a:fillRect/>
          </a:stretch>
        </p:blipFill>
        <p:spPr>
          <a:xfrm>
            <a:off x="6548150" y="2519275"/>
            <a:ext cx="2443450" cy="2443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Практический пример. Сумма чисел</a:t>
            </a:r>
            <a:endParaRPr sz="2500"/>
          </a:p>
        </p:txBody>
      </p:sp>
      <p:sp>
        <p:nvSpPr>
          <p:cNvPr id="189" name="Google Shape;189;p28"/>
          <p:cNvSpPr txBox="1"/>
          <p:nvPr/>
        </p:nvSpPr>
        <p:spPr>
          <a:xfrm>
            <a:off x="311700" y="1223600"/>
            <a:ext cx="47349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Задача:</a:t>
            </a:r>
            <a:r>
              <a:rPr lang="ru" sz="1200">
                <a:latin typeface="Roboto Light"/>
                <a:ea typeface="Roboto Light"/>
                <a:cs typeface="Roboto Light"/>
                <a:sym typeface="Roboto Light"/>
              </a:rPr>
              <a:t> Вычислить сумму целых чисел от 1 до 100. </a:t>
            </a:r>
            <a:endParaRPr sz="1200">
              <a:highlight>
                <a:srgbClr val="FFFFFF"/>
              </a:highlight>
              <a:latin typeface="Roboto Light"/>
              <a:ea typeface="Roboto Light"/>
              <a:cs typeface="Roboto Light"/>
              <a:sym typeface="Roboto Light"/>
            </a:endParaRPr>
          </a:p>
        </p:txBody>
      </p:sp>
      <p:pic>
        <p:nvPicPr>
          <p:cNvPr id="190" name="Google Shape;190;p28"/>
          <p:cNvPicPr preferRelativeResize="0"/>
          <p:nvPr/>
        </p:nvPicPr>
        <p:blipFill>
          <a:blip r:embed="rId3">
            <a:alphaModFix/>
          </a:blip>
          <a:stretch>
            <a:fillRect/>
          </a:stretch>
        </p:blipFill>
        <p:spPr>
          <a:xfrm>
            <a:off x="426750" y="1661250"/>
            <a:ext cx="4706702" cy="33317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Практический пример. Таблица умножения</a:t>
            </a:r>
            <a:endParaRPr sz="2500"/>
          </a:p>
        </p:txBody>
      </p:sp>
      <p:sp>
        <p:nvSpPr>
          <p:cNvPr id="196" name="Google Shape;196;p29"/>
          <p:cNvSpPr txBox="1"/>
          <p:nvPr/>
        </p:nvSpPr>
        <p:spPr>
          <a:xfrm>
            <a:off x="311700" y="1223600"/>
            <a:ext cx="49368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Задача:</a:t>
            </a:r>
            <a:r>
              <a:rPr lang="ru" sz="1200">
                <a:latin typeface="Roboto Light"/>
                <a:ea typeface="Roboto Light"/>
                <a:cs typeface="Roboto Light"/>
                <a:sym typeface="Roboto Light"/>
              </a:rPr>
              <a:t> </a:t>
            </a:r>
            <a:r>
              <a:rPr lang="ru" sz="1200">
                <a:latin typeface="Roboto Light"/>
                <a:ea typeface="Roboto Light"/>
                <a:cs typeface="Roboto Light"/>
                <a:sym typeface="Roboto Light"/>
              </a:rPr>
              <a:t>Составить алгоритм для вывода таблицы умножения на 7.</a:t>
            </a:r>
            <a:endParaRPr sz="1200">
              <a:highlight>
                <a:srgbClr val="FFFFFF"/>
              </a:highlight>
              <a:latin typeface="Roboto Light"/>
              <a:ea typeface="Roboto Light"/>
              <a:cs typeface="Roboto Light"/>
              <a:sym typeface="Roboto Light"/>
            </a:endParaRPr>
          </a:p>
        </p:txBody>
      </p:sp>
      <p:pic>
        <p:nvPicPr>
          <p:cNvPr id="197" name="Google Shape;197;p29"/>
          <p:cNvPicPr preferRelativeResize="0"/>
          <p:nvPr/>
        </p:nvPicPr>
        <p:blipFill>
          <a:blip r:embed="rId3">
            <a:alphaModFix/>
          </a:blip>
          <a:stretch>
            <a:fillRect/>
          </a:stretch>
        </p:blipFill>
        <p:spPr>
          <a:xfrm>
            <a:off x="426750" y="1661250"/>
            <a:ext cx="4706702" cy="33317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Практический пример. Таблица умножения</a:t>
            </a:r>
            <a:endParaRPr sz="2500"/>
          </a:p>
        </p:txBody>
      </p:sp>
      <p:sp>
        <p:nvSpPr>
          <p:cNvPr id="203" name="Google Shape;203;p30"/>
          <p:cNvSpPr txBox="1"/>
          <p:nvPr/>
        </p:nvSpPr>
        <p:spPr>
          <a:xfrm>
            <a:off x="311700" y="1223600"/>
            <a:ext cx="49368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Задача:</a:t>
            </a:r>
            <a:r>
              <a:rPr lang="ru" sz="1200">
                <a:latin typeface="Roboto Light"/>
                <a:ea typeface="Roboto Light"/>
                <a:cs typeface="Roboto Light"/>
                <a:sym typeface="Roboto Light"/>
              </a:rPr>
              <a:t> Составить алгоритм для вывода таблицы умножения на 7.</a:t>
            </a:r>
            <a:endParaRPr sz="1200">
              <a:highlight>
                <a:srgbClr val="FFFFFF"/>
              </a:highlight>
              <a:latin typeface="Roboto Light"/>
              <a:ea typeface="Roboto Light"/>
              <a:cs typeface="Roboto Light"/>
              <a:sym typeface="Roboto Light"/>
            </a:endParaRPr>
          </a:p>
        </p:txBody>
      </p:sp>
      <p:pic>
        <p:nvPicPr>
          <p:cNvPr id="204" name="Google Shape;204;p30"/>
          <p:cNvPicPr preferRelativeResize="0"/>
          <p:nvPr/>
        </p:nvPicPr>
        <p:blipFill>
          <a:blip r:embed="rId3">
            <a:alphaModFix/>
          </a:blip>
          <a:stretch>
            <a:fillRect/>
          </a:stretch>
        </p:blipFill>
        <p:spPr>
          <a:xfrm>
            <a:off x="426750" y="1661250"/>
            <a:ext cx="4706702" cy="3331774"/>
          </a:xfrm>
          <a:prstGeom prst="rect">
            <a:avLst/>
          </a:prstGeom>
          <a:noFill/>
          <a:ln>
            <a:noFill/>
          </a:ln>
        </p:spPr>
      </p:pic>
      <p:pic>
        <p:nvPicPr>
          <p:cNvPr id="205" name="Google Shape;205;p30"/>
          <p:cNvPicPr preferRelativeResize="0"/>
          <p:nvPr/>
        </p:nvPicPr>
        <p:blipFill>
          <a:blip r:embed="rId4">
            <a:alphaModFix/>
          </a:blip>
          <a:stretch>
            <a:fillRect/>
          </a:stretch>
        </p:blipFill>
        <p:spPr>
          <a:xfrm>
            <a:off x="5433700" y="1661250"/>
            <a:ext cx="2876550" cy="1057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Оператор break и continue</a:t>
            </a:r>
            <a:endParaRPr sz="2500"/>
          </a:p>
        </p:txBody>
      </p:sp>
      <p:sp>
        <p:nvSpPr>
          <p:cNvPr id="211" name="Google Shape;211;p31"/>
          <p:cNvSpPr txBox="1"/>
          <p:nvPr/>
        </p:nvSpPr>
        <p:spPr>
          <a:xfrm>
            <a:off x="311700" y="1223600"/>
            <a:ext cx="4097100" cy="12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break</a:t>
            </a:r>
            <a:r>
              <a:rPr lang="ru" sz="1200">
                <a:latin typeface="Roboto Light"/>
                <a:ea typeface="Roboto Light"/>
                <a:cs typeface="Roboto Light"/>
                <a:sym typeface="Roboto Light"/>
              </a:rPr>
              <a:t> – оператор выхода из цикла</a:t>
            </a:r>
            <a:endParaRPr sz="1200">
              <a:latin typeface="Roboto Light"/>
              <a:ea typeface="Roboto Light"/>
              <a:cs typeface="Roboto Light"/>
              <a:sym typeface="Roboto Light"/>
            </a:endParaRPr>
          </a:p>
          <a:p>
            <a:pPr indent="0" lvl="0" marL="0" rtl="0" algn="l">
              <a:spcBef>
                <a:spcPts val="0"/>
              </a:spcBef>
              <a:spcAft>
                <a:spcPts val="0"/>
              </a:spcAft>
              <a:buNone/>
            </a:pPr>
            <a:r>
              <a:t/>
            </a:r>
            <a:endParaRPr sz="1200">
              <a:latin typeface="Roboto Light"/>
              <a:ea typeface="Roboto Light"/>
              <a:cs typeface="Roboto Light"/>
              <a:sym typeface="Roboto Light"/>
            </a:endParaRPr>
          </a:p>
          <a:p>
            <a:pPr indent="-171450" lvl="0" marL="180000" rtl="0" algn="l">
              <a:spcBef>
                <a:spcPts val="0"/>
              </a:spcBef>
              <a:spcAft>
                <a:spcPts val="0"/>
              </a:spcAft>
              <a:buSzPts val="1200"/>
              <a:buFont typeface="Roboto Light"/>
              <a:buChar char="●"/>
            </a:pPr>
            <a:r>
              <a:rPr lang="ru" sz="1200">
                <a:latin typeface="Roboto Light"/>
                <a:ea typeface="Roboto Light"/>
                <a:cs typeface="Roboto Light"/>
                <a:sym typeface="Roboto Light"/>
              </a:rPr>
              <a:t>Немедленно прерывает выполнение цикла</a:t>
            </a:r>
            <a:endParaRPr sz="1200">
              <a:latin typeface="Roboto Light"/>
              <a:ea typeface="Roboto Light"/>
              <a:cs typeface="Roboto Light"/>
              <a:sym typeface="Roboto Light"/>
            </a:endParaRPr>
          </a:p>
          <a:p>
            <a:pPr indent="-171450" lvl="0" marL="180000" rtl="0" algn="l">
              <a:spcBef>
                <a:spcPts val="0"/>
              </a:spcBef>
              <a:spcAft>
                <a:spcPts val="0"/>
              </a:spcAft>
              <a:buSzPts val="1200"/>
              <a:buFont typeface="Roboto Light"/>
              <a:buChar char="●"/>
            </a:pPr>
            <a:r>
              <a:rPr lang="ru" sz="1200">
                <a:latin typeface="Roboto Light"/>
                <a:ea typeface="Roboto Light"/>
                <a:cs typeface="Roboto Light"/>
                <a:sym typeface="Roboto Light"/>
              </a:rPr>
              <a:t>Выход происходит при достижении оператора break</a:t>
            </a:r>
            <a:endParaRPr sz="1200">
              <a:latin typeface="Roboto Light"/>
              <a:ea typeface="Roboto Light"/>
              <a:cs typeface="Roboto Light"/>
              <a:sym typeface="Roboto Light"/>
            </a:endParaRPr>
          </a:p>
          <a:p>
            <a:pPr indent="-171450" lvl="0" marL="180000" rtl="0" algn="l">
              <a:spcBef>
                <a:spcPts val="0"/>
              </a:spcBef>
              <a:spcAft>
                <a:spcPts val="0"/>
              </a:spcAft>
              <a:buSzPts val="1200"/>
              <a:buFont typeface="Roboto Light"/>
              <a:buChar char="●"/>
            </a:pPr>
            <a:r>
              <a:rPr lang="ru" sz="1200">
                <a:latin typeface="Roboto Light"/>
                <a:ea typeface="Roboto Light"/>
                <a:cs typeface="Roboto Light"/>
                <a:sym typeface="Roboto Light"/>
              </a:rPr>
              <a:t>Используется при нахождении нужного элемента или при выполнении условия выхода</a:t>
            </a:r>
            <a:endParaRPr sz="1200">
              <a:latin typeface="Roboto Light"/>
              <a:ea typeface="Roboto Light"/>
              <a:cs typeface="Roboto Light"/>
              <a:sym typeface="Roboto Light"/>
            </a:endParaRPr>
          </a:p>
        </p:txBody>
      </p:sp>
      <p:pic>
        <p:nvPicPr>
          <p:cNvPr id="212" name="Google Shape;212;p31"/>
          <p:cNvPicPr preferRelativeResize="0"/>
          <p:nvPr/>
        </p:nvPicPr>
        <p:blipFill>
          <a:blip r:embed="rId3">
            <a:alphaModFix/>
          </a:blip>
          <a:stretch>
            <a:fillRect/>
          </a:stretch>
        </p:blipFill>
        <p:spPr>
          <a:xfrm>
            <a:off x="4462725" y="1274225"/>
            <a:ext cx="1704975" cy="1285875"/>
          </a:xfrm>
          <a:prstGeom prst="rect">
            <a:avLst/>
          </a:prstGeom>
          <a:noFill/>
          <a:ln>
            <a:noFill/>
          </a:ln>
        </p:spPr>
      </p:pic>
      <p:pic>
        <p:nvPicPr>
          <p:cNvPr id="213" name="Google Shape;213;p31"/>
          <p:cNvPicPr preferRelativeResize="0"/>
          <p:nvPr/>
        </p:nvPicPr>
        <p:blipFill>
          <a:blip r:embed="rId4">
            <a:alphaModFix/>
          </a:blip>
          <a:stretch>
            <a:fillRect/>
          </a:stretch>
        </p:blipFill>
        <p:spPr>
          <a:xfrm>
            <a:off x="6457488" y="1648600"/>
            <a:ext cx="392125" cy="432500"/>
          </a:xfrm>
          <a:prstGeom prst="rect">
            <a:avLst/>
          </a:prstGeom>
          <a:noFill/>
          <a:ln>
            <a:noFill/>
          </a:ln>
        </p:spPr>
      </p:pic>
      <p:pic>
        <p:nvPicPr>
          <p:cNvPr id="214" name="Google Shape;214;p31"/>
          <p:cNvPicPr preferRelativeResize="0"/>
          <p:nvPr/>
        </p:nvPicPr>
        <p:blipFill>
          <a:blip r:embed="rId5">
            <a:alphaModFix/>
          </a:blip>
          <a:stretch>
            <a:fillRect/>
          </a:stretch>
        </p:blipFill>
        <p:spPr>
          <a:xfrm>
            <a:off x="7139425" y="1223600"/>
            <a:ext cx="514350" cy="1466850"/>
          </a:xfrm>
          <a:prstGeom prst="rect">
            <a:avLst/>
          </a:prstGeom>
          <a:noFill/>
          <a:ln>
            <a:noFill/>
          </a:ln>
        </p:spPr>
      </p:pic>
      <p:sp>
        <p:nvSpPr>
          <p:cNvPr id="215" name="Google Shape;215;p31"/>
          <p:cNvSpPr txBox="1"/>
          <p:nvPr/>
        </p:nvSpPr>
        <p:spPr>
          <a:xfrm>
            <a:off x="311700" y="3022725"/>
            <a:ext cx="4097100" cy="12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continue </a:t>
            </a:r>
            <a:r>
              <a:rPr lang="ru" sz="1200">
                <a:latin typeface="Roboto Light"/>
                <a:ea typeface="Roboto Light"/>
                <a:cs typeface="Roboto Light"/>
                <a:sym typeface="Roboto Light"/>
              </a:rPr>
              <a:t>– оператор пропуска итерации</a:t>
            </a:r>
            <a:endParaRPr sz="1200">
              <a:latin typeface="Roboto Light"/>
              <a:ea typeface="Roboto Light"/>
              <a:cs typeface="Roboto Light"/>
              <a:sym typeface="Roboto Light"/>
            </a:endParaRPr>
          </a:p>
          <a:p>
            <a:pPr indent="0" lvl="0" marL="0" rtl="0" algn="l">
              <a:spcBef>
                <a:spcPts val="0"/>
              </a:spcBef>
              <a:spcAft>
                <a:spcPts val="0"/>
              </a:spcAft>
              <a:buNone/>
            </a:pPr>
            <a:r>
              <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Char char="●"/>
            </a:pPr>
            <a:r>
              <a:rPr lang="ru" sz="1200">
                <a:latin typeface="Roboto Light"/>
                <a:ea typeface="Roboto Light"/>
                <a:cs typeface="Roboto Light"/>
                <a:sym typeface="Roboto Light"/>
              </a:rPr>
              <a:t>Пропускает остаток текущей итерации</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Char char="●"/>
            </a:pPr>
            <a:r>
              <a:rPr lang="ru" sz="1200">
                <a:latin typeface="Roboto Light"/>
                <a:ea typeface="Roboto Light"/>
                <a:cs typeface="Roboto Light"/>
                <a:sym typeface="Roboto Light"/>
              </a:rPr>
              <a:t>Переходит к следующей итерации цикла</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Char char="●"/>
            </a:pPr>
            <a:r>
              <a:rPr lang="ru" sz="1200">
                <a:latin typeface="Roboto Light"/>
                <a:ea typeface="Roboto Light"/>
                <a:cs typeface="Roboto Light"/>
                <a:sym typeface="Roboto Light"/>
              </a:rPr>
              <a:t>Используется когда нужно пропустить определенные элементы</a:t>
            </a:r>
            <a:endParaRPr sz="1200">
              <a:latin typeface="Roboto Light"/>
              <a:ea typeface="Roboto Light"/>
              <a:cs typeface="Roboto Light"/>
              <a:sym typeface="Roboto Light"/>
            </a:endParaRPr>
          </a:p>
        </p:txBody>
      </p:sp>
      <p:pic>
        <p:nvPicPr>
          <p:cNvPr id="216" name="Google Shape;216;p31"/>
          <p:cNvPicPr preferRelativeResize="0"/>
          <p:nvPr/>
        </p:nvPicPr>
        <p:blipFill>
          <a:blip r:embed="rId6">
            <a:alphaModFix/>
          </a:blip>
          <a:stretch>
            <a:fillRect/>
          </a:stretch>
        </p:blipFill>
        <p:spPr>
          <a:xfrm>
            <a:off x="4429388" y="3098725"/>
            <a:ext cx="1771650" cy="1257300"/>
          </a:xfrm>
          <a:prstGeom prst="rect">
            <a:avLst/>
          </a:prstGeom>
          <a:noFill/>
          <a:ln>
            <a:noFill/>
          </a:ln>
        </p:spPr>
      </p:pic>
      <p:pic>
        <p:nvPicPr>
          <p:cNvPr id="217" name="Google Shape;217;p31"/>
          <p:cNvPicPr preferRelativeResize="0"/>
          <p:nvPr/>
        </p:nvPicPr>
        <p:blipFill>
          <a:blip r:embed="rId4">
            <a:alphaModFix/>
          </a:blip>
          <a:stretch>
            <a:fillRect/>
          </a:stretch>
        </p:blipFill>
        <p:spPr>
          <a:xfrm>
            <a:off x="6457488" y="3447725"/>
            <a:ext cx="392125" cy="432500"/>
          </a:xfrm>
          <a:prstGeom prst="rect">
            <a:avLst/>
          </a:prstGeom>
          <a:noFill/>
          <a:ln>
            <a:noFill/>
          </a:ln>
        </p:spPr>
      </p:pic>
      <p:pic>
        <p:nvPicPr>
          <p:cNvPr id="218" name="Google Shape;218;p31"/>
          <p:cNvPicPr preferRelativeResize="0"/>
          <p:nvPr/>
        </p:nvPicPr>
        <p:blipFill rotWithShape="1">
          <a:blip r:embed="rId7">
            <a:alphaModFix/>
          </a:blip>
          <a:srcRect b="0" l="0" r="6899" t="0"/>
          <a:stretch/>
        </p:blipFill>
        <p:spPr>
          <a:xfrm>
            <a:off x="7139425" y="3089200"/>
            <a:ext cx="514350" cy="1276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Практический пример. Вывод нечетных чисел</a:t>
            </a:r>
            <a:endParaRPr sz="2500"/>
          </a:p>
        </p:txBody>
      </p:sp>
      <p:sp>
        <p:nvSpPr>
          <p:cNvPr id="224" name="Google Shape;224;p32"/>
          <p:cNvSpPr txBox="1"/>
          <p:nvPr/>
        </p:nvSpPr>
        <p:spPr>
          <a:xfrm>
            <a:off x="311700" y="1223600"/>
            <a:ext cx="49368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Задача:</a:t>
            </a:r>
            <a:r>
              <a:rPr lang="ru" sz="1200">
                <a:latin typeface="Roboto Light"/>
                <a:ea typeface="Roboto Light"/>
                <a:cs typeface="Roboto Light"/>
                <a:sym typeface="Roboto Light"/>
              </a:rPr>
              <a:t> </a:t>
            </a:r>
            <a:r>
              <a:rPr lang="ru" sz="1200">
                <a:latin typeface="Roboto Light"/>
                <a:ea typeface="Roboto Light"/>
                <a:cs typeface="Roboto Light"/>
                <a:sym typeface="Roboto Light"/>
              </a:rPr>
              <a:t>Вывести все нечетные числа от 1 до 20</a:t>
            </a:r>
            <a:r>
              <a:rPr lang="ru" sz="1200">
                <a:latin typeface="Roboto Light"/>
                <a:ea typeface="Roboto Light"/>
                <a:cs typeface="Roboto Light"/>
                <a:sym typeface="Roboto Light"/>
              </a:rPr>
              <a:t>.</a:t>
            </a:r>
            <a:endParaRPr sz="1200">
              <a:highlight>
                <a:srgbClr val="FFFFFF"/>
              </a:highlight>
              <a:latin typeface="Roboto Light"/>
              <a:ea typeface="Roboto Light"/>
              <a:cs typeface="Roboto Light"/>
              <a:sym typeface="Roboto Light"/>
            </a:endParaRPr>
          </a:p>
        </p:txBody>
      </p:sp>
      <p:pic>
        <p:nvPicPr>
          <p:cNvPr id="225" name="Google Shape;225;p32"/>
          <p:cNvPicPr preferRelativeResize="0"/>
          <p:nvPr/>
        </p:nvPicPr>
        <p:blipFill>
          <a:blip r:embed="rId3">
            <a:alphaModFix/>
          </a:blip>
          <a:stretch>
            <a:fillRect/>
          </a:stretch>
        </p:blipFill>
        <p:spPr>
          <a:xfrm>
            <a:off x="426750" y="1661250"/>
            <a:ext cx="4706702" cy="3331774"/>
          </a:xfrm>
          <a:prstGeom prst="rect">
            <a:avLst/>
          </a:prstGeom>
          <a:noFill/>
          <a:ln>
            <a:noFill/>
          </a:ln>
        </p:spPr>
      </p:pic>
      <p:sp>
        <p:nvSpPr>
          <p:cNvPr id="226" name="Google Shape;226;p32"/>
          <p:cNvSpPr txBox="1"/>
          <p:nvPr/>
        </p:nvSpPr>
        <p:spPr>
          <a:xfrm>
            <a:off x="5248500" y="1690900"/>
            <a:ext cx="3555900" cy="12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Способ 1: </a:t>
            </a:r>
            <a:r>
              <a:rPr lang="ru" sz="1200">
                <a:latin typeface="Roboto Light"/>
                <a:ea typeface="Roboto Light"/>
                <a:cs typeface="Roboto Light"/>
                <a:sym typeface="Roboto Light"/>
              </a:rPr>
              <a:t>С использованием шага в range()</a:t>
            </a:r>
            <a:br>
              <a:rPr lang="ru" sz="1200">
                <a:latin typeface="Roboto Light"/>
                <a:ea typeface="Roboto Light"/>
                <a:cs typeface="Roboto Light"/>
                <a:sym typeface="Roboto Light"/>
              </a:rPr>
            </a:br>
            <a:r>
              <a:rPr lang="ru" sz="1200">
                <a:latin typeface="Roboto"/>
                <a:ea typeface="Roboto"/>
                <a:cs typeface="Roboto"/>
                <a:sym typeface="Roboto"/>
              </a:rPr>
              <a:t>Способ 2:</a:t>
            </a:r>
            <a:r>
              <a:rPr lang="ru" sz="1200">
                <a:latin typeface="Roboto Light"/>
                <a:ea typeface="Roboto Light"/>
                <a:cs typeface="Roboto Light"/>
                <a:sym typeface="Roboto Light"/>
              </a:rPr>
              <a:t> С использованием оператора continue</a:t>
            </a:r>
            <a:br>
              <a:rPr lang="ru" sz="1200">
                <a:latin typeface="Roboto Light"/>
                <a:ea typeface="Roboto Light"/>
                <a:cs typeface="Roboto Light"/>
                <a:sym typeface="Roboto Light"/>
              </a:rPr>
            </a:br>
            <a:r>
              <a:rPr lang="ru" sz="1200">
                <a:latin typeface="Roboto"/>
                <a:ea typeface="Roboto"/>
                <a:cs typeface="Roboto"/>
                <a:sym typeface="Roboto"/>
              </a:rPr>
              <a:t>Способ 3:</a:t>
            </a:r>
            <a:r>
              <a:rPr lang="ru" sz="1200">
                <a:latin typeface="Roboto Light"/>
                <a:ea typeface="Roboto Light"/>
                <a:cs typeface="Roboto Light"/>
                <a:sym typeface="Roboto Light"/>
              </a:rPr>
              <a:t> Проверка через else</a:t>
            </a:r>
            <a:br>
              <a:rPr lang="ru" sz="1200">
                <a:latin typeface="Roboto Light"/>
                <a:ea typeface="Roboto Light"/>
                <a:cs typeface="Roboto Light"/>
                <a:sym typeface="Roboto Light"/>
              </a:rPr>
            </a:br>
            <a:br>
              <a:rPr lang="ru" sz="1200">
                <a:latin typeface="Roboto Light"/>
                <a:ea typeface="Roboto Light"/>
                <a:cs typeface="Roboto Light"/>
                <a:sym typeface="Roboto Light"/>
              </a:rPr>
            </a:br>
            <a:r>
              <a:rPr lang="ru" sz="1200">
                <a:latin typeface="Roboto"/>
                <a:ea typeface="Roboto"/>
                <a:cs typeface="Roboto"/>
                <a:sym typeface="Roboto"/>
              </a:rPr>
              <a:t>Какой способ лучше?</a:t>
            </a:r>
            <a:endParaRPr sz="1200">
              <a:highlight>
                <a:srgbClr val="FFFFFF"/>
              </a:highlight>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Практический пример. Вывод нечетных чисел</a:t>
            </a:r>
            <a:endParaRPr sz="2500"/>
          </a:p>
        </p:txBody>
      </p:sp>
      <p:sp>
        <p:nvSpPr>
          <p:cNvPr id="232" name="Google Shape;232;p33"/>
          <p:cNvSpPr txBox="1"/>
          <p:nvPr/>
        </p:nvSpPr>
        <p:spPr>
          <a:xfrm>
            <a:off x="311700" y="1223600"/>
            <a:ext cx="49368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Задача:</a:t>
            </a:r>
            <a:r>
              <a:rPr lang="ru" sz="1200">
                <a:latin typeface="Roboto Light"/>
                <a:ea typeface="Roboto Light"/>
                <a:cs typeface="Roboto Light"/>
                <a:sym typeface="Roboto Light"/>
              </a:rPr>
              <a:t> Вывести все нечетные числа от 1 до 20.</a:t>
            </a:r>
            <a:endParaRPr sz="1200">
              <a:highlight>
                <a:srgbClr val="FFFFFF"/>
              </a:highlight>
              <a:latin typeface="Roboto Light"/>
              <a:ea typeface="Roboto Light"/>
              <a:cs typeface="Roboto Light"/>
              <a:sym typeface="Roboto Light"/>
            </a:endParaRPr>
          </a:p>
        </p:txBody>
      </p:sp>
      <p:sp>
        <p:nvSpPr>
          <p:cNvPr id="233" name="Google Shape;233;p33"/>
          <p:cNvSpPr txBox="1"/>
          <p:nvPr/>
        </p:nvSpPr>
        <p:spPr>
          <a:xfrm>
            <a:off x="4257850" y="1661275"/>
            <a:ext cx="3555900" cy="12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Roboto"/>
                <a:ea typeface="Roboto"/>
                <a:cs typeface="Roboto"/>
                <a:sym typeface="Roboto"/>
              </a:rPr>
              <a:t>Способ 1: </a:t>
            </a:r>
            <a:r>
              <a:rPr lang="ru" sz="1200">
                <a:latin typeface="Roboto Light"/>
                <a:ea typeface="Roboto Light"/>
                <a:cs typeface="Roboto Light"/>
                <a:sym typeface="Roboto Light"/>
              </a:rPr>
              <a:t>С использованием шага в range()</a:t>
            </a:r>
            <a:br>
              <a:rPr lang="ru" sz="1200">
                <a:latin typeface="Roboto Light"/>
                <a:ea typeface="Roboto Light"/>
                <a:cs typeface="Roboto Light"/>
                <a:sym typeface="Roboto Light"/>
              </a:rPr>
            </a:br>
            <a:r>
              <a:rPr lang="ru" sz="1200">
                <a:latin typeface="Roboto"/>
                <a:ea typeface="Roboto"/>
                <a:cs typeface="Roboto"/>
                <a:sym typeface="Roboto"/>
              </a:rPr>
              <a:t>Способ 2:</a:t>
            </a:r>
            <a:r>
              <a:rPr lang="ru" sz="1200">
                <a:latin typeface="Roboto Light"/>
                <a:ea typeface="Roboto Light"/>
                <a:cs typeface="Roboto Light"/>
                <a:sym typeface="Roboto Light"/>
              </a:rPr>
              <a:t> С использованием оператора continue</a:t>
            </a:r>
            <a:br>
              <a:rPr lang="ru" sz="1200">
                <a:latin typeface="Roboto Light"/>
                <a:ea typeface="Roboto Light"/>
                <a:cs typeface="Roboto Light"/>
                <a:sym typeface="Roboto Light"/>
              </a:rPr>
            </a:br>
            <a:r>
              <a:rPr lang="ru" sz="1200">
                <a:latin typeface="Roboto"/>
                <a:ea typeface="Roboto"/>
                <a:cs typeface="Roboto"/>
                <a:sym typeface="Roboto"/>
              </a:rPr>
              <a:t>Способ 3:</a:t>
            </a:r>
            <a:r>
              <a:rPr lang="ru" sz="1200">
                <a:latin typeface="Roboto Light"/>
                <a:ea typeface="Roboto Light"/>
                <a:cs typeface="Roboto Light"/>
                <a:sym typeface="Roboto Light"/>
              </a:rPr>
              <a:t> Проверка через else</a:t>
            </a:r>
            <a:br>
              <a:rPr lang="ru" sz="1200">
                <a:latin typeface="Roboto Light"/>
                <a:ea typeface="Roboto Light"/>
                <a:cs typeface="Roboto Light"/>
                <a:sym typeface="Roboto Light"/>
              </a:rPr>
            </a:br>
            <a:br>
              <a:rPr lang="ru" sz="1200">
                <a:latin typeface="Roboto Light"/>
                <a:ea typeface="Roboto Light"/>
                <a:cs typeface="Roboto Light"/>
                <a:sym typeface="Roboto Light"/>
              </a:rPr>
            </a:br>
            <a:r>
              <a:rPr lang="ru" sz="1200">
                <a:latin typeface="Roboto"/>
                <a:ea typeface="Roboto"/>
                <a:cs typeface="Roboto"/>
                <a:sym typeface="Roboto"/>
              </a:rPr>
              <a:t>Какой способ лучше?</a:t>
            </a:r>
            <a:endParaRPr sz="1200">
              <a:highlight>
                <a:srgbClr val="FFFFFF"/>
              </a:highlight>
              <a:latin typeface="Roboto"/>
              <a:ea typeface="Roboto"/>
              <a:cs typeface="Roboto"/>
              <a:sym typeface="Roboto"/>
            </a:endParaRPr>
          </a:p>
        </p:txBody>
      </p:sp>
      <p:pic>
        <p:nvPicPr>
          <p:cNvPr id="234" name="Google Shape;234;p33"/>
          <p:cNvPicPr preferRelativeResize="0"/>
          <p:nvPr/>
        </p:nvPicPr>
        <p:blipFill>
          <a:blip r:embed="rId3">
            <a:alphaModFix/>
          </a:blip>
          <a:stretch>
            <a:fillRect/>
          </a:stretch>
        </p:blipFill>
        <p:spPr>
          <a:xfrm>
            <a:off x="417125" y="3988000"/>
            <a:ext cx="3086100" cy="1057275"/>
          </a:xfrm>
          <a:prstGeom prst="rect">
            <a:avLst/>
          </a:prstGeom>
          <a:noFill/>
          <a:ln>
            <a:noFill/>
          </a:ln>
        </p:spPr>
      </p:pic>
      <p:pic>
        <p:nvPicPr>
          <p:cNvPr id="235" name="Google Shape;235;p33"/>
          <p:cNvPicPr preferRelativeResize="0"/>
          <p:nvPr/>
        </p:nvPicPr>
        <p:blipFill rotWithShape="1">
          <a:blip r:embed="rId4">
            <a:alphaModFix/>
          </a:blip>
          <a:srcRect b="0" l="0" r="13367" t="0"/>
          <a:stretch/>
        </p:blipFill>
        <p:spPr>
          <a:xfrm>
            <a:off x="417125" y="2602338"/>
            <a:ext cx="3086100" cy="1276350"/>
          </a:xfrm>
          <a:prstGeom prst="rect">
            <a:avLst/>
          </a:prstGeom>
          <a:noFill/>
          <a:ln>
            <a:noFill/>
          </a:ln>
        </p:spPr>
      </p:pic>
      <p:pic>
        <p:nvPicPr>
          <p:cNvPr id="236" name="Google Shape;236;p33"/>
          <p:cNvPicPr preferRelativeResize="0"/>
          <p:nvPr/>
        </p:nvPicPr>
        <p:blipFill rotWithShape="1">
          <a:blip r:embed="rId5">
            <a:alphaModFix/>
          </a:blip>
          <a:srcRect b="0" l="0" r="1749" t="0"/>
          <a:stretch/>
        </p:blipFill>
        <p:spPr>
          <a:xfrm>
            <a:off x="417125" y="1661275"/>
            <a:ext cx="3086100" cy="831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Типичные ошибки при работе с циклом for</a:t>
            </a:r>
            <a:endParaRPr sz="2500"/>
          </a:p>
        </p:txBody>
      </p:sp>
      <p:sp>
        <p:nvSpPr>
          <p:cNvPr id="242" name="Google Shape;242;p34"/>
          <p:cNvSpPr txBox="1"/>
          <p:nvPr>
            <p:ph idx="1" type="body"/>
          </p:nvPr>
        </p:nvSpPr>
        <p:spPr>
          <a:xfrm>
            <a:off x="417125" y="1129200"/>
            <a:ext cx="2443200" cy="40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ru" sz="1200">
                <a:solidFill>
                  <a:schemeClr val="dk1"/>
                </a:solidFill>
                <a:latin typeface="Roboto"/>
                <a:ea typeface="Roboto"/>
                <a:cs typeface="Roboto"/>
                <a:sym typeface="Roboto"/>
              </a:rPr>
              <a:t>Ошибка 1: Забыли двоеточие</a:t>
            </a:r>
            <a:endParaRPr sz="1200">
              <a:solidFill>
                <a:schemeClr val="dk1"/>
              </a:solidFill>
              <a:latin typeface="Roboto Light"/>
              <a:ea typeface="Roboto Light"/>
              <a:cs typeface="Roboto Light"/>
              <a:sym typeface="Roboto Light"/>
            </a:endParaRPr>
          </a:p>
        </p:txBody>
      </p:sp>
      <p:pic>
        <p:nvPicPr>
          <p:cNvPr id="243" name="Google Shape;243;p34"/>
          <p:cNvPicPr preferRelativeResize="0"/>
          <p:nvPr/>
        </p:nvPicPr>
        <p:blipFill>
          <a:blip r:embed="rId3">
            <a:alphaModFix/>
          </a:blip>
          <a:stretch>
            <a:fillRect/>
          </a:stretch>
        </p:blipFill>
        <p:spPr>
          <a:xfrm>
            <a:off x="417088" y="1535100"/>
            <a:ext cx="3381375" cy="847725"/>
          </a:xfrm>
          <a:prstGeom prst="rect">
            <a:avLst/>
          </a:prstGeom>
          <a:noFill/>
          <a:ln>
            <a:noFill/>
          </a:ln>
        </p:spPr>
      </p:pic>
      <p:sp>
        <p:nvSpPr>
          <p:cNvPr id="244" name="Google Shape;244;p34"/>
          <p:cNvSpPr txBox="1"/>
          <p:nvPr>
            <p:ph idx="1" type="body"/>
          </p:nvPr>
        </p:nvSpPr>
        <p:spPr>
          <a:xfrm>
            <a:off x="417125" y="2384335"/>
            <a:ext cx="3381300" cy="40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ru" sz="1200">
                <a:solidFill>
                  <a:schemeClr val="dk1"/>
                </a:solidFill>
                <a:latin typeface="Roboto"/>
                <a:ea typeface="Roboto"/>
                <a:cs typeface="Roboto"/>
                <a:sym typeface="Roboto"/>
              </a:rPr>
              <a:t>Ошибка 2: Неправильный отступ</a:t>
            </a:r>
            <a:endParaRPr sz="1200">
              <a:solidFill>
                <a:schemeClr val="dk1"/>
              </a:solidFill>
              <a:latin typeface="Roboto Light"/>
              <a:ea typeface="Roboto Light"/>
              <a:cs typeface="Roboto Light"/>
              <a:sym typeface="Roboto Light"/>
            </a:endParaRPr>
          </a:p>
        </p:txBody>
      </p:sp>
      <p:pic>
        <p:nvPicPr>
          <p:cNvPr id="245" name="Google Shape;245;p34"/>
          <p:cNvPicPr preferRelativeResize="0"/>
          <p:nvPr/>
        </p:nvPicPr>
        <p:blipFill>
          <a:blip r:embed="rId4">
            <a:alphaModFix/>
          </a:blip>
          <a:stretch>
            <a:fillRect/>
          </a:stretch>
        </p:blipFill>
        <p:spPr>
          <a:xfrm>
            <a:off x="417125" y="2790235"/>
            <a:ext cx="3171825" cy="800100"/>
          </a:xfrm>
          <a:prstGeom prst="rect">
            <a:avLst/>
          </a:prstGeom>
          <a:noFill/>
          <a:ln>
            <a:noFill/>
          </a:ln>
        </p:spPr>
      </p:pic>
      <p:sp>
        <p:nvSpPr>
          <p:cNvPr id="246" name="Google Shape;246;p34"/>
          <p:cNvSpPr txBox="1"/>
          <p:nvPr>
            <p:ph idx="1" type="body"/>
          </p:nvPr>
        </p:nvSpPr>
        <p:spPr>
          <a:xfrm>
            <a:off x="417163" y="3586985"/>
            <a:ext cx="3381300" cy="40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ru" sz="1200">
                <a:solidFill>
                  <a:schemeClr val="dk1"/>
                </a:solidFill>
                <a:latin typeface="Roboto"/>
                <a:ea typeface="Roboto"/>
                <a:cs typeface="Roboto"/>
                <a:sym typeface="Roboto"/>
              </a:rPr>
              <a:t>Ошибка 3: Off-by-one (на единицу не туда)</a:t>
            </a:r>
            <a:endParaRPr sz="1200">
              <a:solidFill>
                <a:schemeClr val="dk1"/>
              </a:solidFill>
              <a:latin typeface="Roboto Light"/>
              <a:ea typeface="Roboto Light"/>
              <a:cs typeface="Roboto Light"/>
              <a:sym typeface="Roboto Light"/>
            </a:endParaRPr>
          </a:p>
        </p:txBody>
      </p:sp>
      <p:pic>
        <p:nvPicPr>
          <p:cNvPr id="247" name="Google Shape;247;p34"/>
          <p:cNvPicPr preferRelativeResize="0"/>
          <p:nvPr/>
        </p:nvPicPr>
        <p:blipFill rotWithShape="1">
          <a:blip r:embed="rId5">
            <a:alphaModFix/>
          </a:blip>
          <a:srcRect b="22935" l="0" r="0" t="0"/>
          <a:stretch/>
        </p:blipFill>
        <p:spPr>
          <a:xfrm>
            <a:off x="417125" y="3996235"/>
            <a:ext cx="4991100" cy="800100"/>
          </a:xfrm>
          <a:prstGeom prst="rect">
            <a:avLst/>
          </a:prstGeom>
          <a:noFill/>
          <a:ln>
            <a:noFill/>
          </a:ln>
        </p:spPr>
      </p:pic>
      <p:pic>
        <p:nvPicPr>
          <p:cNvPr id="248" name="Google Shape;248;p34"/>
          <p:cNvPicPr preferRelativeResize="0"/>
          <p:nvPr/>
        </p:nvPicPr>
        <p:blipFill>
          <a:blip r:embed="rId6">
            <a:alphaModFix/>
          </a:blip>
          <a:stretch>
            <a:fillRect/>
          </a:stretch>
        </p:blipFill>
        <p:spPr>
          <a:xfrm>
            <a:off x="5560625" y="1170125"/>
            <a:ext cx="3430974" cy="34309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Типичные ошибки при работе с циклом for</a:t>
            </a:r>
            <a:endParaRPr sz="2500"/>
          </a:p>
        </p:txBody>
      </p:sp>
      <p:sp>
        <p:nvSpPr>
          <p:cNvPr id="254" name="Google Shape;254;p35"/>
          <p:cNvSpPr txBox="1"/>
          <p:nvPr>
            <p:ph idx="1" type="body"/>
          </p:nvPr>
        </p:nvSpPr>
        <p:spPr>
          <a:xfrm>
            <a:off x="417127" y="1188250"/>
            <a:ext cx="3950700" cy="40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ru" sz="1200">
                <a:solidFill>
                  <a:schemeClr val="dk1"/>
                </a:solidFill>
                <a:latin typeface="Roboto"/>
                <a:ea typeface="Roboto"/>
                <a:cs typeface="Roboto"/>
                <a:sym typeface="Roboto"/>
              </a:rPr>
              <a:t>Ошибка 4: Конечное значение range() включается</a:t>
            </a:r>
            <a:endParaRPr sz="1200">
              <a:solidFill>
                <a:schemeClr val="dk1"/>
              </a:solidFill>
              <a:latin typeface="Roboto Light"/>
              <a:ea typeface="Roboto Light"/>
              <a:cs typeface="Roboto Light"/>
              <a:sym typeface="Roboto Light"/>
            </a:endParaRPr>
          </a:p>
        </p:txBody>
      </p:sp>
      <p:pic>
        <p:nvPicPr>
          <p:cNvPr id="255" name="Google Shape;255;p35"/>
          <p:cNvPicPr preferRelativeResize="0"/>
          <p:nvPr/>
        </p:nvPicPr>
        <p:blipFill>
          <a:blip r:embed="rId3">
            <a:alphaModFix/>
          </a:blip>
          <a:stretch>
            <a:fillRect/>
          </a:stretch>
        </p:blipFill>
        <p:spPr>
          <a:xfrm>
            <a:off x="417125" y="1594150"/>
            <a:ext cx="4622975" cy="956796"/>
          </a:xfrm>
          <a:prstGeom prst="rect">
            <a:avLst/>
          </a:prstGeom>
          <a:noFill/>
          <a:ln>
            <a:noFill/>
          </a:ln>
        </p:spPr>
      </p:pic>
      <p:sp>
        <p:nvSpPr>
          <p:cNvPr id="256" name="Google Shape;256;p35"/>
          <p:cNvSpPr txBox="1"/>
          <p:nvPr>
            <p:ph idx="1" type="body"/>
          </p:nvPr>
        </p:nvSpPr>
        <p:spPr>
          <a:xfrm>
            <a:off x="417124" y="2621775"/>
            <a:ext cx="4924500" cy="40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ru" sz="1200">
                <a:solidFill>
                  <a:schemeClr val="dk1"/>
                </a:solidFill>
                <a:latin typeface="Roboto"/>
                <a:ea typeface="Roboto"/>
                <a:cs typeface="Roboto"/>
                <a:sym typeface="Roboto"/>
              </a:rPr>
              <a:t>Ошибка 5: Использование счетчика после цикла без проверки</a:t>
            </a:r>
            <a:endParaRPr sz="1200">
              <a:solidFill>
                <a:schemeClr val="dk1"/>
              </a:solidFill>
              <a:latin typeface="Roboto Light"/>
              <a:ea typeface="Roboto Light"/>
              <a:cs typeface="Roboto Light"/>
              <a:sym typeface="Roboto Light"/>
            </a:endParaRPr>
          </a:p>
        </p:txBody>
      </p:sp>
      <p:pic>
        <p:nvPicPr>
          <p:cNvPr id="257" name="Google Shape;257;p35"/>
          <p:cNvPicPr preferRelativeResize="0"/>
          <p:nvPr/>
        </p:nvPicPr>
        <p:blipFill>
          <a:blip r:embed="rId4">
            <a:alphaModFix/>
          </a:blip>
          <a:stretch>
            <a:fillRect/>
          </a:stretch>
        </p:blipFill>
        <p:spPr>
          <a:xfrm>
            <a:off x="417125" y="3027663"/>
            <a:ext cx="4819650" cy="1495425"/>
          </a:xfrm>
          <a:prstGeom prst="rect">
            <a:avLst/>
          </a:prstGeom>
          <a:noFill/>
          <a:ln>
            <a:noFill/>
          </a:ln>
        </p:spPr>
      </p:pic>
      <p:pic>
        <p:nvPicPr>
          <p:cNvPr id="258" name="Google Shape;258;p35"/>
          <p:cNvPicPr preferRelativeResize="0"/>
          <p:nvPr/>
        </p:nvPicPr>
        <p:blipFill>
          <a:blip r:embed="rId5">
            <a:alphaModFix/>
          </a:blip>
          <a:stretch>
            <a:fillRect/>
          </a:stretch>
        </p:blipFill>
        <p:spPr>
          <a:xfrm>
            <a:off x="5494024" y="1170125"/>
            <a:ext cx="3497575" cy="3497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Визуализация кода</a:t>
            </a:r>
            <a:endParaRPr sz="2500"/>
          </a:p>
        </p:txBody>
      </p:sp>
      <p:sp>
        <p:nvSpPr>
          <p:cNvPr id="264" name="Google Shape;264;p36"/>
          <p:cNvSpPr txBox="1"/>
          <p:nvPr>
            <p:ph idx="1" type="body"/>
          </p:nvPr>
        </p:nvSpPr>
        <p:spPr>
          <a:xfrm>
            <a:off x="323150" y="1293200"/>
            <a:ext cx="5835000" cy="3645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ru" sz="1200" u="sng">
                <a:solidFill>
                  <a:schemeClr val="hlink"/>
                </a:solidFill>
                <a:latin typeface="Roboto Light"/>
                <a:ea typeface="Roboto Light"/>
                <a:cs typeface="Roboto Light"/>
                <a:sym typeface="Roboto Light"/>
                <a:hlinkClick r:id="rId3"/>
              </a:rPr>
              <a:t>https://pythontutor.com</a:t>
            </a:r>
            <a:endParaRPr sz="12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None/>
            </a:pPr>
            <a:r>
              <a:t/>
            </a:r>
            <a:endParaRPr sz="12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Clr>
                <a:schemeClr val="dk1"/>
              </a:buClr>
              <a:buSzPts val="1100"/>
              <a:buFont typeface="Arial"/>
              <a:buNone/>
            </a:pPr>
            <a:r>
              <a:t/>
            </a:r>
            <a:endParaRPr sz="1200">
              <a:solidFill>
                <a:schemeClr val="dk1"/>
              </a:solidFill>
              <a:latin typeface="Roboto Light"/>
              <a:ea typeface="Roboto Light"/>
              <a:cs typeface="Roboto Light"/>
              <a:sym typeface="Roboto Light"/>
            </a:endParaRPr>
          </a:p>
        </p:txBody>
      </p:sp>
      <p:pic>
        <p:nvPicPr>
          <p:cNvPr id="265" name="Google Shape;265;p36"/>
          <p:cNvPicPr preferRelativeResize="0"/>
          <p:nvPr/>
        </p:nvPicPr>
        <p:blipFill>
          <a:blip r:embed="rId4">
            <a:alphaModFix/>
          </a:blip>
          <a:stretch>
            <a:fillRect/>
          </a:stretch>
        </p:blipFill>
        <p:spPr>
          <a:xfrm>
            <a:off x="417125" y="1552225"/>
            <a:ext cx="7084667" cy="3591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Вопросы для самоконтроля</a:t>
            </a:r>
            <a:endParaRPr sz="2500"/>
          </a:p>
        </p:txBody>
      </p:sp>
      <p:sp>
        <p:nvSpPr>
          <p:cNvPr id="271" name="Google Shape;271;p37"/>
          <p:cNvSpPr txBox="1"/>
          <p:nvPr>
            <p:ph idx="1" type="body"/>
          </p:nvPr>
        </p:nvSpPr>
        <p:spPr>
          <a:xfrm>
            <a:off x="323150" y="1293200"/>
            <a:ext cx="5835000" cy="2164200"/>
          </a:xfrm>
          <a:prstGeom prst="rect">
            <a:avLst/>
          </a:prstGeom>
        </p:spPr>
        <p:txBody>
          <a:bodyPr anchorCtr="0" anchor="t" bIns="91425" lIns="91425" spcFirstLastPara="1" rIns="91425" wrap="square" tIns="91425">
            <a:noAutofit/>
          </a:bodyPr>
          <a:lstStyle/>
          <a:p>
            <a:pPr indent="-304800" lvl="0" marL="457200" rtl="0" algn="just">
              <a:lnSpc>
                <a:spcPct val="150000"/>
              </a:lnSpc>
              <a:spcBef>
                <a:spcPts val="0"/>
              </a:spcBef>
              <a:spcAft>
                <a:spcPts val="0"/>
              </a:spcAft>
              <a:buClr>
                <a:schemeClr val="dk1"/>
              </a:buClr>
              <a:buSzPts val="1200"/>
              <a:buFont typeface="Roboto Light"/>
              <a:buAutoNum type="arabicPeriod"/>
            </a:pPr>
            <a:r>
              <a:rPr lang="ru" sz="1200">
                <a:solidFill>
                  <a:schemeClr val="dk1"/>
                </a:solidFill>
                <a:latin typeface="Roboto Light"/>
                <a:ea typeface="Roboto Light"/>
                <a:cs typeface="Roboto Light"/>
                <a:sym typeface="Roboto Light"/>
              </a:rPr>
              <a:t>Что такое цикл с параметром? Какие еще названия он имеет?</a:t>
            </a:r>
            <a:endParaRPr sz="1200">
              <a:solidFill>
                <a:schemeClr val="dk1"/>
              </a:solidFill>
              <a:latin typeface="Roboto Light"/>
              <a:ea typeface="Roboto Light"/>
              <a:cs typeface="Roboto Light"/>
              <a:sym typeface="Roboto Light"/>
            </a:endParaRPr>
          </a:p>
          <a:p>
            <a:pPr indent="-304800" lvl="0" marL="457200" rtl="0" algn="just">
              <a:lnSpc>
                <a:spcPct val="150000"/>
              </a:lnSpc>
              <a:spcBef>
                <a:spcPts val="0"/>
              </a:spcBef>
              <a:spcAft>
                <a:spcPts val="0"/>
              </a:spcAft>
              <a:buClr>
                <a:schemeClr val="dk1"/>
              </a:buClr>
              <a:buSzPts val="1200"/>
              <a:buFont typeface="Roboto Light"/>
              <a:buAutoNum type="arabicPeriod"/>
            </a:pPr>
            <a:r>
              <a:rPr lang="ru" sz="1200">
                <a:solidFill>
                  <a:schemeClr val="dk1"/>
                </a:solidFill>
                <a:latin typeface="Roboto Light"/>
                <a:ea typeface="Roboto Light"/>
                <a:cs typeface="Roboto Light"/>
                <a:sym typeface="Roboto Light"/>
              </a:rPr>
              <a:t>Какие компоненты входят в состав циклического алгоритма?</a:t>
            </a:r>
            <a:endParaRPr sz="1200">
              <a:solidFill>
                <a:schemeClr val="dk1"/>
              </a:solidFill>
              <a:latin typeface="Roboto Light"/>
              <a:ea typeface="Roboto Light"/>
              <a:cs typeface="Roboto Light"/>
              <a:sym typeface="Roboto Light"/>
            </a:endParaRPr>
          </a:p>
          <a:p>
            <a:pPr indent="-304800" lvl="0" marL="457200" rtl="0" algn="just">
              <a:lnSpc>
                <a:spcPct val="150000"/>
              </a:lnSpc>
              <a:spcBef>
                <a:spcPts val="0"/>
              </a:spcBef>
              <a:spcAft>
                <a:spcPts val="0"/>
              </a:spcAft>
              <a:buClr>
                <a:schemeClr val="dk1"/>
              </a:buClr>
              <a:buSzPts val="1200"/>
              <a:buFont typeface="Roboto Light"/>
              <a:buAutoNum type="arabicPeriod"/>
            </a:pPr>
            <a:r>
              <a:rPr lang="ru" sz="1200">
                <a:solidFill>
                  <a:schemeClr val="dk1"/>
                </a:solidFill>
                <a:latin typeface="Roboto Light"/>
                <a:ea typeface="Roboto Light"/>
                <a:cs typeface="Roboto Light"/>
                <a:sym typeface="Roboto Light"/>
              </a:rPr>
              <a:t>Объясните синтаксис цикла for i in range(n):</a:t>
            </a:r>
            <a:endParaRPr sz="1200">
              <a:solidFill>
                <a:schemeClr val="dk1"/>
              </a:solidFill>
              <a:latin typeface="Roboto Light"/>
              <a:ea typeface="Roboto Light"/>
              <a:cs typeface="Roboto Light"/>
              <a:sym typeface="Roboto Light"/>
            </a:endParaRPr>
          </a:p>
          <a:p>
            <a:pPr indent="-304800" lvl="0" marL="457200" rtl="0" algn="just">
              <a:lnSpc>
                <a:spcPct val="150000"/>
              </a:lnSpc>
              <a:spcBef>
                <a:spcPts val="0"/>
              </a:spcBef>
              <a:spcAft>
                <a:spcPts val="0"/>
              </a:spcAft>
              <a:buClr>
                <a:schemeClr val="dk1"/>
              </a:buClr>
              <a:buSzPts val="1200"/>
              <a:buFont typeface="Roboto Light"/>
              <a:buAutoNum type="arabicPeriod"/>
            </a:pPr>
            <a:r>
              <a:rPr lang="ru" sz="1200">
                <a:solidFill>
                  <a:schemeClr val="dk1"/>
                </a:solidFill>
                <a:latin typeface="Roboto Light"/>
                <a:ea typeface="Roboto Light"/>
                <a:cs typeface="Roboto Light"/>
                <a:sym typeface="Roboto Light"/>
              </a:rPr>
              <a:t>Почему важно понимать, что конечное значение range() не включается?</a:t>
            </a:r>
            <a:endParaRPr sz="1200">
              <a:solidFill>
                <a:schemeClr val="dk1"/>
              </a:solidFill>
              <a:latin typeface="Roboto Light"/>
              <a:ea typeface="Roboto Light"/>
              <a:cs typeface="Roboto Light"/>
              <a:sym typeface="Roboto Light"/>
            </a:endParaRPr>
          </a:p>
          <a:p>
            <a:pPr indent="-304800" lvl="0" marL="457200" rtl="0" algn="just">
              <a:lnSpc>
                <a:spcPct val="150000"/>
              </a:lnSpc>
              <a:spcBef>
                <a:spcPts val="0"/>
              </a:spcBef>
              <a:spcAft>
                <a:spcPts val="0"/>
              </a:spcAft>
              <a:buClr>
                <a:schemeClr val="dk1"/>
              </a:buClr>
              <a:buSzPts val="1200"/>
              <a:buFont typeface="Roboto Light"/>
              <a:buAutoNum type="arabicPeriod"/>
            </a:pPr>
            <a:r>
              <a:rPr lang="ru" sz="1200">
                <a:solidFill>
                  <a:schemeClr val="dk1"/>
                </a:solidFill>
                <a:latin typeface="Roboto Light"/>
                <a:ea typeface="Roboto Light"/>
                <a:cs typeface="Roboto Light"/>
                <a:sym typeface="Roboto Light"/>
              </a:rPr>
              <a:t>Что такое счетчик цикла? Для чего он нужен?</a:t>
            </a:r>
            <a:endParaRPr sz="1200">
              <a:solidFill>
                <a:schemeClr val="dk1"/>
              </a:solidFill>
              <a:latin typeface="Roboto Light"/>
              <a:ea typeface="Roboto Light"/>
              <a:cs typeface="Roboto Light"/>
              <a:sym typeface="Roboto Light"/>
            </a:endParaRPr>
          </a:p>
          <a:p>
            <a:pPr indent="-304800" lvl="0" marL="457200" rtl="0" algn="just">
              <a:lnSpc>
                <a:spcPct val="150000"/>
              </a:lnSpc>
              <a:spcBef>
                <a:spcPts val="0"/>
              </a:spcBef>
              <a:spcAft>
                <a:spcPts val="0"/>
              </a:spcAft>
              <a:buClr>
                <a:schemeClr val="dk1"/>
              </a:buClr>
              <a:buSzPts val="1200"/>
              <a:buFont typeface="Roboto Light"/>
              <a:buAutoNum type="arabicPeriod"/>
            </a:pPr>
            <a:r>
              <a:rPr lang="ru" sz="1200">
                <a:solidFill>
                  <a:schemeClr val="dk1"/>
                </a:solidFill>
                <a:latin typeface="Roboto Light"/>
                <a:ea typeface="Roboto Light"/>
                <a:cs typeface="Roboto Light"/>
                <a:sym typeface="Roboto Light"/>
              </a:rPr>
              <a:t>В чем разница между операторами break и continue?</a:t>
            </a:r>
            <a:endParaRPr sz="1200">
              <a:solidFill>
                <a:schemeClr val="dk1"/>
              </a:solidFill>
              <a:latin typeface="Roboto Light"/>
              <a:ea typeface="Roboto Light"/>
              <a:cs typeface="Roboto Light"/>
              <a:sym typeface="Roboto Light"/>
            </a:endParaRPr>
          </a:p>
          <a:p>
            <a:pPr indent="-304800" lvl="0" marL="457200" rtl="0" algn="just">
              <a:lnSpc>
                <a:spcPct val="150000"/>
              </a:lnSpc>
              <a:spcBef>
                <a:spcPts val="0"/>
              </a:spcBef>
              <a:spcAft>
                <a:spcPts val="0"/>
              </a:spcAft>
              <a:buClr>
                <a:schemeClr val="dk1"/>
              </a:buClr>
              <a:buSzPts val="1200"/>
              <a:buFont typeface="Roboto Light"/>
              <a:buAutoNum type="arabicPeriod"/>
            </a:pPr>
            <a:r>
              <a:rPr lang="ru" sz="1200">
                <a:solidFill>
                  <a:schemeClr val="dk1"/>
                </a:solidFill>
                <a:latin typeface="Roboto Light"/>
                <a:ea typeface="Roboto Light"/>
                <a:cs typeface="Roboto Light"/>
                <a:sym typeface="Roboto Light"/>
              </a:rPr>
              <a:t>Какие ошибки часто встречаются при работе с циклом for?</a:t>
            </a:r>
            <a:endParaRPr sz="12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Clr>
                <a:schemeClr val="dk1"/>
              </a:buClr>
              <a:buSzPts val="1100"/>
              <a:buFont typeface="Arial"/>
              <a:buNone/>
            </a:pPr>
            <a:r>
              <a:t/>
            </a:r>
            <a:endParaRPr sz="1200">
              <a:solidFill>
                <a:schemeClr val="dk1"/>
              </a:solidFill>
              <a:latin typeface="Roboto Light"/>
              <a:ea typeface="Roboto Light"/>
              <a:cs typeface="Roboto Light"/>
              <a:sym typeface="Roboto Light"/>
            </a:endParaRPr>
          </a:p>
        </p:txBody>
      </p:sp>
      <p:pic>
        <p:nvPicPr>
          <p:cNvPr id="272" name="Google Shape;272;p37"/>
          <p:cNvPicPr preferRelativeResize="0"/>
          <p:nvPr/>
        </p:nvPicPr>
        <p:blipFill>
          <a:blip r:embed="rId3">
            <a:alphaModFix/>
          </a:blip>
          <a:stretch>
            <a:fillRect/>
          </a:stretch>
        </p:blipFill>
        <p:spPr>
          <a:xfrm>
            <a:off x="6074675" y="2316775"/>
            <a:ext cx="2681049" cy="26810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Самостоятельная отработка</a:t>
            </a:r>
            <a:endParaRPr sz="2500"/>
          </a:p>
        </p:txBody>
      </p:sp>
      <p:sp>
        <p:nvSpPr>
          <p:cNvPr id="278" name="Google Shape;278;p38"/>
          <p:cNvSpPr txBox="1"/>
          <p:nvPr>
            <p:ph idx="1" type="body"/>
          </p:nvPr>
        </p:nvSpPr>
        <p:spPr>
          <a:xfrm>
            <a:off x="417125" y="1319600"/>
            <a:ext cx="5008200" cy="36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000">
                <a:solidFill>
                  <a:schemeClr val="dk1"/>
                </a:solidFill>
                <a:latin typeface="Roboto"/>
                <a:ea typeface="Roboto"/>
                <a:cs typeface="Roboto"/>
                <a:sym typeface="Roboto"/>
              </a:rPr>
              <a:t>Задача 1</a:t>
            </a:r>
            <a:r>
              <a:rPr lang="ru" sz="1000">
                <a:solidFill>
                  <a:schemeClr val="dk1"/>
                </a:solidFill>
                <a:latin typeface="Roboto"/>
                <a:ea typeface="Roboto"/>
                <a:cs typeface="Roboto"/>
                <a:sym typeface="Roboto"/>
              </a:rPr>
              <a:t>: </a:t>
            </a:r>
            <a:endParaRPr sz="1000">
              <a:solidFill>
                <a:schemeClr val="dk1"/>
              </a:solidFill>
              <a:latin typeface="Roboto"/>
              <a:ea typeface="Roboto"/>
              <a:cs typeface="Roboto"/>
              <a:sym typeface="Roboto"/>
            </a:endParaRPr>
          </a:p>
          <a:p>
            <a:pPr indent="0" lvl="0" marL="0" rtl="0" algn="l">
              <a:spcBef>
                <a:spcPts val="0"/>
              </a:spcBef>
              <a:spcAft>
                <a:spcPts val="0"/>
              </a:spcAft>
              <a:buNone/>
            </a:pPr>
            <a:r>
              <a:rPr lang="ru" sz="1000">
                <a:solidFill>
                  <a:schemeClr val="dk1"/>
                </a:solidFill>
                <a:latin typeface="Roboto Light"/>
                <a:ea typeface="Roboto Light"/>
                <a:cs typeface="Roboto Light"/>
                <a:sym typeface="Roboto Light"/>
              </a:rPr>
              <a:t>Вывести все четные числа от 2 до 20.</a:t>
            </a:r>
            <a:endParaRPr sz="1000">
              <a:solidFill>
                <a:schemeClr val="dk1"/>
              </a:solidFill>
              <a:latin typeface="Roboto Light"/>
              <a:ea typeface="Roboto Light"/>
              <a:cs typeface="Roboto Light"/>
              <a:sym typeface="Roboto Light"/>
            </a:endParaRPr>
          </a:p>
          <a:p>
            <a:pPr indent="0" lvl="0" marL="0" rtl="0" algn="l">
              <a:spcBef>
                <a:spcPts val="1000"/>
              </a:spcBef>
              <a:spcAft>
                <a:spcPts val="0"/>
              </a:spcAft>
              <a:buClr>
                <a:schemeClr val="dk1"/>
              </a:buClr>
              <a:buSzPts val="1100"/>
              <a:buFont typeface="Arial"/>
              <a:buNone/>
            </a:pPr>
            <a:r>
              <a:rPr lang="ru" sz="1000">
                <a:solidFill>
                  <a:schemeClr val="dk1"/>
                </a:solidFill>
                <a:latin typeface="Roboto"/>
                <a:ea typeface="Roboto"/>
                <a:cs typeface="Roboto"/>
                <a:sym typeface="Roboto"/>
              </a:rPr>
              <a:t>Задача 2:</a:t>
            </a:r>
            <a:endParaRPr sz="10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rPr lang="ru" sz="1000">
                <a:solidFill>
                  <a:schemeClr val="dk1"/>
                </a:solidFill>
                <a:latin typeface="Roboto Light"/>
                <a:ea typeface="Roboto Light"/>
                <a:cs typeface="Roboto Light"/>
                <a:sym typeface="Roboto Light"/>
              </a:rPr>
              <a:t>Вычислить факториал числа n.</a:t>
            </a:r>
            <a:endParaRPr sz="10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Clr>
                <a:schemeClr val="dk1"/>
              </a:buClr>
              <a:buSzPts val="1100"/>
              <a:buFont typeface="Arial"/>
              <a:buNone/>
            </a:pPr>
            <a:r>
              <a:rPr lang="ru" sz="1000">
                <a:solidFill>
                  <a:schemeClr val="dk1"/>
                </a:solidFill>
                <a:latin typeface="Roboto"/>
                <a:ea typeface="Roboto"/>
                <a:cs typeface="Roboto"/>
                <a:sym typeface="Roboto"/>
              </a:rPr>
              <a:t>Задача 3: </a:t>
            </a:r>
            <a:endParaRPr sz="10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rPr lang="ru" sz="1000">
                <a:solidFill>
                  <a:schemeClr val="dk1"/>
                </a:solidFill>
                <a:latin typeface="Roboto Light"/>
                <a:ea typeface="Roboto Light"/>
                <a:cs typeface="Roboto Light"/>
                <a:sym typeface="Roboto Light"/>
              </a:rPr>
              <a:t>Даны два целых числа m и n. </a:t>
            </a:r>
            <a:endParaRPr sz="10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Clr>
                <a:schemeClr val="dk1"/>
              </a:buClr>
              <a:buSzPts val="1100"/>
              <a:buFont typeface="Arial"/>
              <a:buNone/>
            </a:pPr>
            <a:r>
              <a:rPr lang="ru" sz="1000">
                <a:solidFill>
                  <a:schemeClr val="dk1"/>
                </a:solidFill>
                <a:latin typeface="Roboto Light"/>
                <a:ea typeface="Roboto Light"/>
                <a:cs typeface="Roboto Light"/>
                <a:sym typeface="Roboto Light"/>
              </a:rPr>
              <a:t>Напишите программу, которая выводит все целые числа от m до n включительно в порядке возрастания, если m&lt;n, или в порядке убывания в противном случае.</a:t>
            </a:r>
            <a:endParaRPr sz="10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Clr>
                <a:schemeClr val="dk1"/>
              </a:buClr>
              <a:buSzPts val="1100"/>
              <a:buFont typeface="Arial"/>
              <a:buNone/>
            </a:pPr>
            <a:r>
              <a:rPr lang="ru" sz="1000">
                <a:solidFill>
                  <a:schemeClr val="dk1"/>
                </a:solidFill>
                <a:latin typeface="Roboto"/>
                <a:ea typeface="Roboto"/>
                <a:cs typeface="Roboto"/>
                <a:sym typeface="Roboto"/>
              </a:rPr>
              <a:t>Задача 4:</a:t>
            </a:r>
            <a:endParaRPr sz="1000">
              <a:solidFill>
                <a:schemeClr val="dk1"/>
              </a:solidFill>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rPr lang="ru" sz="1000">
                <a:solidFill>
                  <a:schemeClr val="dk1"/>
                </a:solidFill>
                <a:latin typeface="Roboto Light"/>
                <a:ea typeface="Roboto Light"/>
                <a:cs typeface="Roboto Light"/>
                <a:sym typeface="Roboto Light"/>
              </a:rPr>
              <a:t>Даны два натуральных числа m и n (m≤n). </a:t>
            </a:r>
            <a:endParaRPr sz="10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Clr>
                <a:schemeClr val="dk1"/>
              </a:buClr>
              <a:buSzPts val="1100"/>
              <a:buFont typeface="Arial"/>
              <a:buNone/>
            </a:pPr>
            <a:r>
              <a:rPr lang="ru" sz="1000">
                <a:solidFill>
                  <a:schemeClr val="dk1"/>
                </a:solidFill>
                <a:latin typeface="Roboto Light"/>
                <a:ea typeface="Roboto Light"/>
                <a:cs typeface="Roboto Light"/>
                <a:sym typeface="Roboto Light"/>
              </a:rPr>
              <a:t>Напишите программу, которая выводит все целые числа от m до n (включительно), удовлетворяющие хотя бы одному из условий:</a:t>
            </a:r>
            <a:endParaRPr sz="1000">
              <a:solidFill>
                <a:schemeClr val="dk1"/>
              </a:solidFill>
              <a:latin typeface="Roboto Light"/>
              <a:ea typeface="Roboto Light"/>
              <a:cs typeface="Roboto Light"/>
              <a:sym typeface="Roboto Light"/>
            </a:endParaRPr>
          </a:p>
          <a:p>
            <a:pPr indent="-292100" lvl="0" marL="457200" rtl="0" algn="just">
              <a:lnSpc>
                <a:spcPct val="150000"/>
              </a:lnSpc>
              <a:spcBef>
                <a:spcPts val="0"/>
              </a:spcBef>
              <a:spcAft>
                <a:spcPts val="0"/>
              </a:spcAft>
              <a:buClr>
                <a:schemeClr val="dk1"/>
              </a:buClr>
              <a:buSzPts val="1000"/>
              <a:buFont typeface="Roboto Light"/>
              <a:buChar char="●"/>
            </a:pPr>
            <a:r>
              <a:rPr lang="ru" sz="1000">
                <a:solidFill>
                  <a:schemeClr val="dk1"/>
                </a:solidFill>
                <a:latin typeface="Roboto Light"/>
                <a:ea typeface="Roboto Light"/>
                <a:cs typeface="Roboto Light"/>
                <a:sym typeface="Roboto Light"/>
              </a:rPr>
              <a:t>число кратно  17</a:t>
            </a:r>
            <a:endParaRPr sz="1000">
              <a:solidFill>
                <a:schemeClr val="dk1"/>
              </a:solidFill>
              <a:latin typeface="Roboto Light"/>
              <a:ea typeface="Roboto Light"/>
              <a:cs typeface="Roboto Light"/>
              <a:sym typeface="Roboto Light"/>
            </a:endParaRPr>
          </a:p>
          <a:p>
            <a:pPr indent="-292100" lvl="0" marL="457200" rtl="0" algn="just">
              <a:lnSpc>
                <a:spcPct val="150000"/>
              </a:lnSpc>
              <a:spcBef>
                <a:spcPts val="0"/>
              </a:spcBef>
              <a:spcAft>
                <a:spcPts val="0"/>
              </a:spcAft>
              <a:buClr>
                <a:schemeClr val="dk1"/>
              </a:buClr>
              <a:buSzPts val="1000"/>
              <a:buFont typeface="Roboto Light"/>
              <a:buChar char="●"/>
            </a:pPr>
            <a:r>
              <a:rPr lang="ru" sz="1000">
                <a:solidFill>
                  <a:schemeClr val="dk1"/>
                </a:solidFill>
                <a:latin typeface="Roboto Light"/>
                <a:ea typeface="Roboto Light"/>
                <a:cs typeface="Roboto Light"/>
                <a:sym typeface="Roboto Light"/>
              </a:rPr>
              <a:t>число оканчивается на 9</a:t>
            </a:r>
            <a:endParaRPr sz="1000">
              <a:solidFill>
                <a:schemeClr val="dk1"/>
              </a:solidFill>
              <a:latin typeface="Roboto Light"/>
              <a:ea typeface="Roboto Light"/>
              <a:cs typeface="Roboto Light"/>
              <a:sym typeface="Roboto Light"/>
            </a:endParaRPr>
          </a:p>
          <a:p>
            <a:pPr indent="-292100" lvl="0" marL="457200" rtl="0" algn="just">
              <a:lnSpc>
                <a:spcPct val="150000"/>
              </a:lnSpc>
              <a:spcBef>
                <a:spcPts val="0"/>
              </a:spcBef>
              <a:spcAft>
                <a:spcPts val="0"/>
              </a:spcAft>
              <a:buClr>
                <a:schemeClr val="dk1"/>
              </a:buClr>
              <a:buSzPts val="1000"/>
              <a:buFont typeface="Roboto Light"/>
              <a:buChar char="●"/>
            </a:pPr>
            <a:r>
              <a:rPr lang="ru" sz="1000">
                <a:solidFill>
                  <a:schemeClr val="dk1"/>
                </a:solidFill>
                <a:latin typeface="Roboto Light"/>
                <a:ea typeface="Roboto Light"/>
                <a:cs typeface="Roboto Light"/>
                <a:sym typeface="Roboto Light"/>
              </a:rPr>
              <a:t>число кратно 3 и 5 одновременно</a:t>
            </a:r>
            <a:endParaRPr sz="1000">
              <a:solidFill>
                <a:schemeClr val="dk1"/>
              </a:solidFill>
              <a:latin typeface="Roboto Light"/>
              <a:ea typeface="Roboto Light"/>
              <a:cs typeface="Roboto Light"/>
              <a:sym typeface="Roboto Light"/>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Roboto Light"/>
              <a:ea typeface="Roboto Light"/>
              <a:cs typeface="Roboto Light"/>
              <a:sym typeface="Roboto Light"/>
            </a:endParaRPr>
          </a:p>
        </p:txBody>
      </p:sp>
      <p:pic>
        <p:nvPicPr>
          <p:cNvPr id="279" name="Google Shape;279;p38"/>
          <p:cNvPicPr preferRelativeResize="0"/>
          <p:nvPr/>
        </p:nvPicPr>
        <p:blipFill>
          <a:blip r:embed="rId3">
            <a:alphaModFix/>
          </a:blip>
          <a:stretch>
            <a:fillRect/>
          </a:stretch>
        </p:blipFill>
        <p:spPr>
          <a:xfrm>
            <a:off x="5577725" y="1170125"/>
            <a:ext cx="3413873" cy="341387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2500">
                <a:latin typeface="Century Gothic"/>
                <a:ea typeface="Century Gothic"/>
                <a:cs typeface="Century Gothic"/>
                <a:sym typeface="Century Gothic"/>
              </a:rPr>
              <a:t>Итоги</a:t>
            </a:r>
            <a:endParaRPr sz="2500"/>
          </a:p>
        </p:txBody>
      </p:sp>
      <p:sp>
        <p:nvSpPr>
          <p:cNvPr id="285" name="Google Shape;285;p39"/>
          <p:cNvSpPr txBox="1"/>
          <p:nvPr/>
        </p:nvSpPr>
        <p:spPr>
          <a:xfrm>
            <a:off x="323150" y="1271125"/>
            <a:ext cx="6047700" cy="2770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Font typeface="Roboto Light"/>
              <a:buAutoNum type="arabicPeriod"/>
            </a:pPr>
            <a:r>
              <a:rPr lang="ru" sz="1200">
                <a:latin typeface="Roboto Light"/>
                <a:ea typeface="Roboto Light"/>
                <a:cs typeface="Roboto Light"/>
                <a:sym typeface="Roboto Light"/>
              </a:rPr>
              <a:t>Изучили, что такое цикл с параметром for, где он используется и какие ещё бывают типы циклов (while, do‑while).​</a:t>
            </a:r>
            <a:endParaRPr sz="1200">
              <a:latin typeface="Roboto Light"/>
              <a:ea typeface="Roboto Light"/>
              <a:cs typeface="Roboto Light"/>
              <a:sym typeface="Roboto Light"/>
            </a:endParaRPr>
          </a:p>
          <a:p>
            <a:pPr indent="0" lvl="0" marL="457200" rtl="0" algn="l">
              <a:spcBef>
                <a:spcPts val="0"/>
              </a:spcBef>
              <a:spcAft>
                <a:spcPts val="0"/>
              </a:spcAft>
              <a:buNone/>
            </a:pPr>
            <a:r>
              <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AutoNum type="arabicPeriod"/>
            </a:pPr>
            <a:r>
              <a:rPr lang="ru" sz="1200">
                <a:latin typeface="Roboto Light"/>
                <a:ea typeface="Roboto Light"/>
                <a:cs typeface="Roboto Light"/>
                <a:sym typeface="Roboto Light"/>
              </a:rPr>
              <a:t>Разобрали синтаксис for i in range(...) и научились работать с range() с одним, двумя и тремя параметрами, включая отрицательный шаг.​</a:t>
            </a:r>
            <a:endParaRPr sz="1200">
              <a:latin typeface="Roboto Light"/>
              <a:ea typeface="Roboto Light"/>
              <a:cs typeface="Roboto Light"/>
              <a:sym typeface="Roboto Light"/>
            </a:endParaRPr>
          </a:p>
          <a:p>
            <a:pPr indent="0" lvl="0" marL="457200" rtl="0" algn="l">
              <a:spcBef>
                <a:spcPts val="0"/>
              </a:spcBef>
              <a:spcAft>
                <a:spcPts val="0"/>
              </a:spcAft>
              <a:buNone/>
            </a:pPr>
            <a:r>
              <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AutoNum type="arabicPeriod"/>
            </a:pPr>
            <a:r>
              <a:rPr lang="ru" sz="1200">
                <a:latin typeface="Roboto Light"/>
                <a:ea typeface="Roboto Light"/>
                <a:cs typeface="Roboto Light"/>
                <a:sym typeface="Roboto Light"/>
              </a:rPr>
              <a:t>Научились использовать переменную‑счётчик (i, j, k, _) и понимать её значение во время и после выполнения цикла.​</a:t>
            </a:r>
            <a:endParaRPr sz="1200">
              <a:latin typeface="Roboto Light"/>
              <a:ea typeface="Roboto Light"/>
              <a:cs typeface="Roboto Light"/>
              <a:sym typeface="Roboto Light"/>
            </a:endParaRPr>
          </a:p>
          <a:p>
            <a:pPr indent="0" lvl="0" marL="457200" rtl="0" algn="l">
              <a:spcBef>
                <a:spcPts val="0"/>
              </a:spcBef>
              <a:spcAft>
                <a:spcPts val="0"/>
              </a:spcAft>
              <a:buNone/>
            </a:pPr>
            <a:r>
              <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AutoNum type="arabicPeriod"/>
            </a:pPr>
            <a:r>
              <a:rPr lang="ru" sz="1200">
                <a:latin typeface="Roboto Light"/>
                <a:ea typeface="Roboto Light"/>
                <a:cs typeface="Roboto Light"/>
                <a:sym typeface="Roboto Light"/>
              </a:rPr>
              <a:t>Познакомились с операторами break и continue и увидели, как они изменяют работу цикла.​</a:t>
            </a:r>
            <a:endParaRPr sz="1200">
              <a:latin typeface="Roboto Light"/>
              <a:ea typeface="Roboto Light"/>
              <a:cs typeface="Roboto Light"/>
              <a:sym typeface="Roboto Light"/>
            </a:endParaRPr>
          </a:p>
          <a:p>
            <a:pPr indent="0" lvl="0" marL="457200" rtl="0" algn="l">
              <a:spcBef>
                <a:spcPts val="0"/>
              </a:spcBef>
              <a:spcAft>
                <a:spcPts val="0"/>
              </a:spcAft>
              <a:buNone/>
            </a:pPr>
            <a:r>
              <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AutoNum type="arabicPeriod"/>
            </a:pPr>
            <a:r>
              <a:rPr lang="ru" sz="1200">
                <a:latin typeface="Roboto Light"/>
                <a:ea typeface="Roboto Light"/>
                <a:cs typeface="Roboto Light"/>
                <a:sym typeface="Roboto Light"/>
              </a:rPr>
              <a:t>Разобрали типичные ошибки при работе с циклом for (двоеточие, отступы, границы range(), использование счётчика после цикла).</a:t>
            </a:r>
            <a:endParaRPr sz="1200">
              <a:latin typeface="Roboto Light"/>
              <a:ea typeface="Roboto Light"/>
              <a:cs typeface="Roboto Light"/>
              <a:sym typeface="Roboto Light"/>
            </a:endParaRPr>
          </a:p>
        </p:txBody>
      </p:sp>
      <p:pic>
        <p:nvPicPr>
          <p:cNvPr id="286" name="Google Shape;286;p39"/>
          <p:cNvPicPr preferRelativeResize="0"/>
          <p:nvPr/>
        </p:nvPicPr>
        <p:blipFill>
          <a:blip r:embed="rId3">
            <a:alphaModFix/>
          </a:blip>
          <a:stretch>
            <a:fillRect/>
          </a:stretch>
        </p:blipFill>
        <p:spPr>
          <a:xfrm>
            <a:off x="6438075" y="2244675"/>
            <a:ext cx="2468349" cy="2468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